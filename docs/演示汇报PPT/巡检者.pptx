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B0C68-E3BD-4302-912B-6BC9811F443B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186DD-0324-4E8D-A82C-9F7476912A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21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BFE32-24A2-3F07-B750-96A13DDDD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0A5D41-6E17-DCCE-A83F-43A6EA579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F5A87B-B02A-5167-81F8-DD1E0490C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444523-0D33-007D-4874-F3BBCA34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0448A4-795B-6BA7-38D9-595ADB3A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067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7583A-86FB-D8A6-B669-B301AA725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713BD2-4961-164E-F065-DC0AF6F3B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00598B-9472-165D-1AAE-EC92F49F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56BF6D-F368-F100-E62C-17D3AE835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C365DD-8D9C-2EC7-9836-B6AADDC8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001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3CE48-C290-A947-D458-76239C58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9D87B-C38A-03F7-31F8-56266CA65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15D48D-5E09-3DD5-C69A-5BC5183E8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B9FED2-FA14-6FBA-DED6-DE6C4813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AC4D9-0D0F-07F8-DC00-7CC3C85EC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41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A6CC7-8E0A-EE6C-F7BB-E618F97E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49BB77-B4C9-1DF0-3A54-708C482E8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286B21-7BEC-D3AE-17EA-72F747897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93CC50-CAB9-9DF2-020F-CC2A41B5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FF3F33-0158-4C0A-D7C0-DB375022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D8F45F-DE7D-D3FA-A5E1-931C5954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8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943CE-F403-E6B7-1A1D-016E02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6157EA-C461-2E79-D6BA-EC9C43C38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3346AB-96DF-53D9-5BF4-2BB622862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E17C5C-47BF-12AE-163F-DE3C3526C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560B00-435E-4C8C-B2AC-2FCD8EEF7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89AFFB-0778-54C2-EB78-B561CD7D5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7D43E3-0AB1-3A9F-E77E-072B4E2E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1BEB43-4414-98C6-A082-F5365ECA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65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6C2D1-C76B-F1E5-9883-754FEDE32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2ECD6B-0979-703F-90E6-5B9571782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584B21-9C28-C0AE-EB2E-2CC3D1B9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5F7B53-05D5-68CA-11D7-612BECDCA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56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551D0C-AF0B-0433-9E51-268222D0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D6BFC7-B25D-9EA8-C4D9-6462E70D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CAE5BD-B40E-9358-C02A-91031618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247A8-DCBD-6686-0A36-D8A67F861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A9928C-2ADD-82C8-61DB-24DB26A5B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77DC63-80C3-892D-7FBA-58804C790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C9017F-D2B5-EC2A-B9A0-064C12FA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24F8E-3EE2-FA72-9BDE-ABDDA01B5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3B587C-F99D-A5DD-CCD3-ED388535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16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D2C8C-8C11-3647-2C28-D824769A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E57FDD-48C3-EED2-4FC8-6D3EC3EBC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493C41-B469-33C1-D3B8-ECDBF9A42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2C9964-0D3F-E8A8-18C3-A962F13C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5D9645-B0B5-7011-F06D-94170F81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67EEDD-7FE6-4823-7555-3D355EBA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87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6EF736-9A81-8FD1-9620-C15380FB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1B78E2-A934-E137-626D-A8C5977C9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09E17D-2BE7-033E-7138-41CE02E2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FB4E4C-E3EA-78E2-1B0F-FC8E52EFF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587E6-0A5E-7565-29DD-06803C8F1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548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0342E3-B4E6-B3E5-ACF7-D2A0632E5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70FD75-1930-92F0-6ADF-BB4941CEF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84C26-5F61-C71F-8808-ACB2F93D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85700B-D4FF-A70B-EDEF-36592302F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6ABD4D-4D67-EEFF-3CF2-25F8EE0B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160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39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ODY"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8890">
            <a:solidFill>
              <a:srgbClr val="D5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521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88217F-931F-15F9-BF8E-C1CE6EA6C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224F7D-805A-6544-68A6-DFB954837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B52F5-C3CC-859F-7937-9A4057703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BC771-17D1-4F6F-B668-9E0EDFF04E45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38BFAA-EB15-A49A-6C86-3564E73F6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7D7CFE-7282-E08C-3DC6-13C03C1EC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B4922-0632-445E-A595-6AC6521A53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38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巡检者_轮机视觉原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机舱巡检的视觉线索与模型边界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从自动判断到辅助筛查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可复现的视觉检测流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按场景隔离_让测试更可信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评测去重_真实泛化能力_പര_ശ_ധ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yolo11n_seg疑似液体区域定位方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分割评测设计与误报分析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同分母对照评测_为何选择_v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机舱误报率显著下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实验结果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402336"/>
            <a:ext cx="7790688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3781"/>
            <a:ext cx="1572768" cy="561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39728" y="6519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不只提示异常，还标出疑似位置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 v8 能对公开管道喷射、流淌样本给出可视化分割区域。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438912" y="2103120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11" name="Image 1" descr="/mnt/data/巡检者_ppt_assets/image6.jpg"/>
          <p:cNvPicPr>
            <a:picLocks noChangeAspect="1"/>
          </p:cNvPicPr>
          <p:nvPr/>
        </p:nvPicPr>
        <p:blipFill>
          <a:blip r:embed="rId4"/>
          <a:srcRect t="23891" b="23891"/>
          <a:stretch/>
        </p:blipFill>
        <p:spPr>
          <a:xfrm>
            <a:off x="493776" y="2157984"/>
            <a:ext cx="3291840" cy="1335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" y="352044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喷射样本</a:t>
            </a:r>
            <a:endParaRPr lang="en-US" sz="1130" dirty="0"/>
          </a:p>
        </p:txBody>
      </p:sp>
      <p:sp>
        <p:nvSpPr>
          <p:cNvPr id="13" name="Shape 9"/>
          <p:cNvSpPr/>
          <p:nvPr/>
        </p:nvSpPr>
        <p:spPr>
          <a:xfrm>
            <a:off x="4114800" y="2103120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14" name="Image 2" descr="/mnt/data/巡检者_ppt_assets/image8.png"/>
          <p:cNvPicPr>
            <a:picLocks noChangeAspect="1"/>
          </p:cNvPicPr>
          <p:nvPr/>
        </p:nvPicPr>
        <p:blipFill>
          <a:blip r:embed="rId5"/>
          <a:srcRect t="29813" b="29813"/>
          <a:stretch/>
        </p:blipFill>
        <p:spPr>
          <a:xfrm>
            <a:off x="4169664" y="2157984"/>
            <a:ext cx="3291840" cy="13350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87952" y="352044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管道流淌</a:t>
            </a:r>
            <a:endParaRPr lang="en-US" sz="1130" dirty="0"/>
          </a:p>
        </p:txBody>
      </p:sp>
      <p:sp>
        <p:nvSpPr>
          <p:cNvPr id="16" name="Shape 11"/>
          <p:cNvSpPr/>
          <p:nvPr/>
        </p:nvSpPr>
        <p:spPr>
          <a:xfrm>
            <a:off x="7790688" y="2103120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17" name="Image 3" descr="/mnt/data/巡检者_ppt_assets/image9.png"/>
          <p:cNvPicPr>
            <a:picLocks noChangeAspect="1"/>
          </p:cNvPicPr>
          <p:nvPr/>
        </p:nvPicPr>
        <p:blipFill>
          <a:blip r:embed="rId6"/>
          <a:srcRect t="29993" b="29993"/>
          <a:stretch/>
        </p:blipFill>
        <p:spPr>
          <a:xfrm>
            <a:off x="7845552" y="2157984"/>
            <a:ext cx="3291840" cy="1335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63840" y="3520440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接头流淌</a:t>
            </a:r>
            <a:endParaRPr lang="en-US" sz="1130" dirty="0"/>
          </a:p>
        </p:txBody>
      </p:sp>
      <p:sp>
        <p:nvSpPr>
          <p:cNvPr id="19" name="Shape 13"/>
          <p:cNvSpPr/>
          <p:nvPr/>
        </p:nvSpPr>
        <p:spPr>
          <a:xfrm>
            <a:off x="438912" y="4041648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20" name="Image 4" descr="/mnt/data/巡检者_ppt_assets/image10.png"/>
          <p:cNvPicPr>
            <a:picLocks noChangeAspect="1"/>
          </p:cNvPicPr>
          <p:nvPr/>
        </p:nvPicPr>
        <p:blipFill>
          <a:blip r:embed="rId7"/>
          <a:srcRect t="29768" b="29768"/>
          <a:stretch/>
        </p:blipFill>
        <p:spPr>
          <a:xfrm>
            <a:off x="493776" y="4096512"/>
            <a:ext cx="3291840" cy="133502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2064" y="545896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壁面附近流淌</a:t>
            </a:r>
            <a:endParaRPr lang="en-US" sz="1130" dirty="0"/>
          </a:p>
        </p:txBody>
      </p:sp>
      <p:sp>
        <p:nvSpPr>
          <p:cNvPr id="22" name="Shape 15"/>
          <p:cNvSpPr/>
          <p:nvPr/>
        </p:nvSpPr>
        <p:spPr>
          <a:xfrm>
            <a:off x="4114800" y="4041648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23" name="Image 5" descr="/mnt/data/巡检者_ppt_assets/image11.png"/>
          <p:cNvPicPr>
            <a:picLocks noChangeAspect="1"/>
          </p:cNvPicPr>
          <p:nvPr/>
        </p:nvPicPr>
        <p:blipFill>
          <a:blip r:embed="rId8"/>
          <a:srcRect t="29586" b="29586"/>
          <a:stretch/>
        </p:blipFill>
        <p:spPr>
          <a:xfrm>
            <a:off x="4169664" y="4096512"/>
            <a:ext cx="3291840" cy="133502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187952" y="545896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地面附近流淌</a:t>
            </a:r>
            <a:endParaRPr lang="en-US" sz="1130" dirty="0"/>
          </a:p>
        </p:txBody>
      </p:sp>
      <p:sp>
        <p:nvSpPr>
          <p:cNvPr id="25" name="Shape 17"/>
          <p:cNvSpPr/>
          <p:nvPr/>
        </p:nvSpPr>
        <p:spPr>
          <a:xfrm>
            <a:off x="7790688" y="4041648"/>
            <a:ext cx="340156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8890">
            <a:solidFill>
              <a:srgbClr val="DCE6EA"/>
            </a:solidFill>
            <a:prstDash val="solid"/>
          </a:ln>
        </p:spPr>
      </p:sp>
      <p:pic>
        <p:nvPicPr>
          <p:cNvPr id="26" name="Image 6" descr="/mnt/data/巡检者_ppt_assets/image12.png"/>
          <p:cNvPicPr>
            <a:picLocks noChangeAspect="1"/>
          </p:cNvPicPr>
          <p:nvPr/>
        </p:nvPicPr>
        <p:blipFill>
          <a:blip r:embed="rId9"/>
          <a:srcRect t="29812" b="29812"/>
          <a:stretch/>
        </p:blipFill>
        <p:spPr>
          <a:xfrm>
            <a:off x="7845552" y="4096512"/>
            <a:ext cx="3291840" cy="133502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863840" y="5458968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2442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接头/管件区域</a:t>
            </a:r>
            <a:endParaRPr lang="en-US" sz="1130" dirty="0"/>
          </a:p>
        </p:txBody>
      </p:sp>
      <p:sp>
        <p:nvSpPr>
          <p:cNvPr id="28" name="Shape 19"/>
          <p:cNvSpPr/>
          <p:nvPr/>
        </p:nvSpPr>
        <p:spPr>
          <a:xfrm>
            <a:off x="8961120" y="1819656"/>
            <a:ext cx="164592" cy="164592"/>
          </a:xfrm>
          <a:prstGeom prst="rect">
            <a:avLst/>
          </a:prstGeom>
          <a:solidFill>
            <a:srgbClr val="436EF5">
              <a:alpha val="75000"/>
            </a:srgbClr>
          </a:solidFill>
          <a:ln w="12700">
            <a:solidFill>
              <a:srgbClr val="436EF5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9189720" y="1783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06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蓝色为模型分割叠加区域</a:t>
            </a:r>
            <a:endParaRPr lang="en-US" sz="1130" dirty="0"/>
          </a:p>
        </p:txBody>
      </p:sp>
      <p:sp>
        <p:nvSpPr>
          <p:cNvPr id="30" name="Text 21"/>
          <p:cNvSpPr/>
          <p:nvPr/>
        </p:nvSpPr>
        <p:spPr>
          <a:xfrm>
            <a:off x="475488" y="5833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A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公开管道样本 · 非真实机舱泄漏验证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0" y="612648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2743200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3511296" y="61630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从“发现线索”进一步到“指向位置”。</a:t>
            </a:r>
            <a:endParaRPr lang="en-US" sz="1700" dirty="0"/>
          </a:p>
        </p:txBody>
      </p:sp>
      <p:sp>
        <p:nvSpPr>
          <p:cNvPr id="34" name="Shape 25"/>
          <p:cNvSpPr/>
          <p:nvPr/>
        </p:nvSpPr>
        <p:spPr>
          <a:xfrm>
            <a:off x="8796528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能力边界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402336"/>
            <a:ext cx="7790688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3781"/>
            <a:ext cx="1572768" cy="561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39728" y="6519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低误报，不等于真实机舱泄漏已经可靠检出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当前最重要的未完成项，是获得足够真实机舱泄漏正样本并建立独立召回评测。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438912" y="2103120"/>
            <a:ext cx="5358384" cy="3611880"/>
          </a:xfrm>
          <a:prstGeom prst="roundRect">
            <a:avLst>
              <a:gd name="adj" fmla="val 1266"/>
            </a:avLst>
          </a:prstGeom>
          <a:solidFill>
            <a:srgbClr val="F7FBFA"/>
          </a:solidFill>
          <a:ln w="8890">
            <a:solidFill>
              <a:srgbClr val="D9E9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44768" y="2103120"/>
            <a:ext cx="5605272" cy="3611880"/>
          </a:xfrm>
          <a:prstGeom prst="roundRect">
            <a:avLst>
              <a:gd name="adj" fmla="val 1266"/>
            </a:avLst>
          </a:prstGeom>
          <a:solidFill>
            <a:srgbClr val="FBF9F7"/>
          </a:solidFill>
          <a:ln w="8890">
            <a:solidFill>
              <a:srgbClr val="E7DE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331720"/>
            <a:ext cx="438912" cy="41148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5237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已经验证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345936" y="2331720"/>
            <a:ext cx="438912" cy="41148"/>
          </a:xfrm>
          <a:prstGeom prst="rect">
            <a:avLst/>
          </a:prstGeom>
          <a:solidFill>
            <a:srgbClr val="D97A32"/>
          </a:solidFill>
          <a:ln w="12700">
            <a:solidFill>
              <a:srgbClr val="D97A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45936" y="25237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尚未验证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13232" y="3108960"/>
            <a:ext cx="237744" cy="23774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14553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7280" y="307238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正常机舱低误报</a:t>
            </a:r>
            <a:endParaRPr lang="en-US" sz="1520" dirty="0"/>
          </a:p>
        </p:txBody>
      </p:sp>
      <p:sp>
        <p:nvSpPr>
          <p:cNvPr id="19" name="Text 16"/>
          <p:cNvSpPr/>
          <p:nvPr/>
        </p:nvSpPr>
        <p:spPr>
          <a:xfrm>
            <a:off x="1097280" y="3401568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113 张留出图中误报 2 张（2/113）</a:t>
            </a:r>
            <a:endParaRPr lang="en-US" sz="1160" dirty="0"/>
          </a:p>
        </p:txBody>
      </p:sp>
      <p:sp>
        <p:nvSpPr>
          <p:cNvPr id="20" name="Shape 17"/>
          <p:cNvSpPr/>
          <p:nvPr/>
        </p:nvSpPr>
        <p:spPr>
          <a:xfrm>
            <a:off x="713232" y="3950208"/>
            <a:ext cx="237744" cy="23774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98678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" y="391363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公开管道可视化定位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1097280" y="424281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能够输出 mask / bbox / score 供人工复核</a:t>
            </a:r>
            <a:endParaRPr lang="en-US" sz="1160" dirty="0"/>
          </a:p>
        </p:txBody>
      </p:sp>
      <p:sp>
        <p:nvSpPr>
          <p:cNvPr id="24" name="Shape 21"/>
          <p:cNvSpPr/>
          <p:nvPr/>
        </p:nvSpPr>
        <p:spPr>
          <a:xfrm>
            <a:off x="713232" y="4791456"/>
            <a:ext cx="237744" cy="23774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48280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7280" y="475488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评测链可复现</a:t>
            </a:r>
            <a:endParaRPr lang="en-US" sz="1520" dirty="0"/>
          </a:p>
        </p:txBody>
      </p:sp>
      <p:sp>
        <p:nvSpPr>
          <p:cNvPr id="27" name="Text 24"/>
          <p:cNvSpPr/>
          <p:nvPr/>
        </p:nvSpPr>
        <p:spPr>
          <a:xfrm>
            <a:off x="1097280" y="5084064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按场景隔离，避免近重复图造成测试虚高</a:t>
            </a:r>
            <a:endParaRPr lang="en-US" sz="1160" dirty="0"/>
          </a:p>
        </p:txBody>
      </p:sp>
      <p:sp>
        <p:nvSpPr>
          <p:cNvPr id="28" name="Shape 25"/>
          <p:cNvSpPr/>
          <p:nvPr/>
        </p:nvSpPr>
        <p:spPr>
          <a:xfrm>
            <a:off x="6428232" y="3108960"/>
            <a:ext cx="237744" cy="237744"/>
          </a:xfrm>
          <a:prstGeom prst="ellipse">
            <a:avLst/>
          </a:prstGeom>
          <a:solidFill>
            <a:srgbClr val="D97A32"/>
          </a:solidFill>
          <a:ln w="12700">
            <a:solidFill>
              <a:srgbClr val="D97A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0" y="314553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12280" y="3072384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真实机舱泄漏召回率</a:t>
            </a:r>
            <a:endParaRPr lang="en-US" sz="1520" dirty="0"/>
          </a:p>
        </p:txBody>
      </p:sp>
      <p:sp>
        <p:nvSpPr>
          <p:cNvPr id="31" name="Text 28"/>
          <p:cNvSpPr/>
          <p:nvPr/>
        </p:nvSpPr>
        <p:spPr>
          <a:xfrm>
            <a:off x="6812280" y="3401568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训练与独立测试缺少足够真实机舱泄漏正例</a:t>
            </a:r>
            <a:endParaRPr lang="en-US" sz="1160" dirty="0"/>
          </a:p>
        </p:txBody>
      </p:sp>
      <p:sp>
        <p:nvSpPr>
          <p:cNvPr id="32" name="Shape 29"/>
          <p:cNvSpPr/>
          <p:nvPr/>
        </p:nvSpPr>
        <p:spPr>
          <a:xfrm>
            <a:off x="6428232" y="3950208"/>
            <a:ext cx="237744" cy="237744"/>
          </a:xfrm>
          <a:prstGeom prst="ellipse">
            <a:avLst/>
          </a:prstGeom>
          <a:solidFill>
            <a:srgbClr val="D97A32"/>
          </a:solidFill>
          <a:ln w="12700">
            <a:solidFill>
              <a:srgbClr val="D97A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92240" y="398678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12280" y="391363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细滴、积水、深色油污</a:t>
            </a:r>
            <a:endParaRPr lang="en-US" sz="1520" dirty="0"/>
          </a:p>
        </p:txBody>
      </p:sp>
      <p:sp>
        <p:nvSpPr>
          <p:cNvPr id="35" name="Text 32"/>
          <p:cNvSpPr/>
          <p:nvPr/>
        </p:nvSpPr>
        <p:spPr>
          <a:xfrm>
            <a:off x="6812280" y="4242816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不同形态与工况的覆盖仍不足</a:t>
            </a:r>
            <a:endParaRPr lang="en-US" sz="1160" dirty="0"/>
          </a:p>
        </p:txBody>
      </p:sp>
      <p:sp>
        <p:nvSpPr>
          <p:cNvPr id="36" name="Shape 33"/>
          <p:cNvSpPr/>
          <p:nvPr/>
        </p:nvSpPr>
        <p:spPr>
          <a:xfrm>
            <a:off x="6428232" y="4791456"/>
            <a:ext cx="237744" cy="237744"/>
          </a:xfrm>
          <a:prstGeom prst="ellipse">
            <a:avLst/>
          </a:prstGeom>
          <a:solidFill>
            <a:srgbClr val="D97A32"/>
          </a:solidFill>
          <a:ln w="12700">
            <a:solidFill>
              <a:srgbClr val="D97A3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92240" y="48280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12280" y="475488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跨船型、光照与视频连续性</a:t>
            </a:r>
            <a:endParaRPr lang="en-US" sz="1520" dirty="0"/>
          </a:p>
        </p:txBody>
      </p:sp>
      <p:sp>
        <p:nvSpPr>
          <p:cNvPr id="39" name="Text 36"/>
          <p:cNvSpPr/>
          <p:nvPr/>
        </p:nvSpPr>
        <p:spPr>
          <a:xfrm>
            <a:off x="6812280" y="5084064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尚未形成系统性独立验证</a:t>
            </a:r>
            <a:endParaRPr lang="en-US" sz="1160" dirty="0"/>
          </a:p>
        </p:txBody>
      </p:sp>
      <p:sp>
        <p:nvSpPr>
          <p:cNvPr id="40" name="Shape 37"/>
          <p:cNvSpPr/>
          <p:nvPr/>
        </p:nvSpPr>
        <p:spPr>
          <a:xfrm>
            <a:off x="6382512" y="5468112"/>
            <a:ext cx="5010912" cy="182880"/>
          </a:xfrm>
          <a:prstGeom prst="roundRect">
            <a:avLst>
              <a:gd name="adj" fmla="val 15000"/>
            </a:avLst>
          </a:prstGeom>
          <a:solidFill>
            <a:srgbClr val="FFF3EA"/>
          </a:solidFill>
          <a:ln w="12700">
            <a:solidFill>
              <a:srgbClr val="F2D7C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01384" y="5321808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9A552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已检查的一张真实舰艇管道漏水照片：v8 在 0.25 阈值下未检出。</a:t>
            </a:r>
            <a:endParaRPr lang="en-US" sz="1170" dirty="0"/>
          </a:p>
        </p:txBody>
      </p:sp>
      <p:sp>
        <p:nvSpPr>
          <p:cNvPr id="42" name="Shape 39"/>
          <p:cNvSpPr/>
          <p:nvPr/>
        </p:nvSpPr>
        <p:spPr>
          <a:xfrm>
            <a:off x="0" y="612648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743200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511296" y="61630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真实机舱正样本，是从原型走向现场验证的关键缺口。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8796528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系统演示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402336"/>
            <a:ext cx="7790688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3781"/>
            <a:ext cx="1572768" cy="561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39728" y="6519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演示端把模型输出留给人工复核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单张图片流程：上传现场图 → 定位疑似液体 → 查看标注并判断。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502920" y="2331720"/>
            <a:ext cx="420624" cy="42062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42316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" y="2752344"/>
            <a:ext cx="0" cy="566928"/>
          </a:xfrm>
          <a:prstGeom prst="line">
            <a:avLst/>
          </a:prstGeom>
          <a:noFill/>
          <a:ln w="15240">
            <a:solidFill>
              <a:srgbClr val="A9D8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3500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上传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88720" y="26609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现场照片或已核对案例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3337560"/>
            <a:ext cx="420624" cy="42062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342900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13232" y="3758184"/>
            <a:ext cx="0" cy="566928"/>
          </a:xfrm>
          <a:prstGeom prst="line">
            <a:avLst/>
          </a:prstGeom>
          <a:noFill/>
          <a:ln w="15240">
            <a:solidFill>
              <a:srgbClr val="A9D8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3355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定位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88720" y="36667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生成掩膜、位置框、模型分数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02920" y="4343400"/>
            <a:ext cx="420624" cy="420624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44348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88720" y="4361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复核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88720" y="46725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检查框的位置与现场含义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" y="5440680"/>
            <a:ext cx="3108960" cy="621792"/>
          </a:xfrm>
          <a:prstGeom prst="roundRect">
            <a:avLst>
              <a:gd name="adj" fmla="val 7353"/>
            </a:avLst>
          </a:prstGeom>
          <a:solidFill>
            <a:srgbClr val="EEF7F9"/>
          </a:solidFill>
          <a:ln w="8890">
            <a:solidFill>
              <a:srgbClr val="D7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4088" y="55595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口径提醒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490472" y="551383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演示阈值 0.20；报告评测阈值 0.25；分数不是概率。</a:t>
            </a:r>
            <a:endParaRPr lang="en-US" sz="1080" dirty="0"/>
          </a:p>
        </p:txBody>
      </p:sp>
      <p:pic>
        <p:nvPicPr>
          <p:cNvPr id="27" name="Image 1" descr="/mnt/data/巡检者_ppt_assets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24" y="2057400"/>
            <a:ext cx="3182112" cy="397764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3794760" y="2084832"/>
            <a:ext cx="0" cy="3803904"/>
          </a:xfrm>
          <a:prstGeom prst="line">
            <a:avLst/>
          </a:prstGeom>
          <a:noFill/>
          <a:ln w="8890">
            <a:solidFill>
              <a:srgbClr val="D6E3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612648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743200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11296" y="61630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系统仅供辅助筛查和教学演示，报警决策仍需传感器和人工复核。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8796528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项目贡献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402336"/>
            <a:ext cx="7790688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3781"/>
            <a:ext cx="1572768" cy="561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39728" y="6519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把“识别效果”变成一条可复核的证据链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项目价值不在单一指标领先，而在评测可信、目标场景误报可量化、输出可人工核对。</a:t>
            </a:r>
            <a:endParaRPr lang="en-US" sz="1820" dirty="0"/>
          </a:p>
        </p:txBody>
      </p:sp>
      <p:sp>
        <p:nvSpPr>
          <p:cNvPr id="10" name="Text 7"/>
          <p:cNvSpPr/>
          <p:nvPr/>
        </p:nvSpPr>
        <p:spPr>
          <a:xfrm>
            <a:off x="530352" y="24231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060704" y="2606040"/>
            <a:ext cx="1783080" cy="0"/>
          </a:xfrm>
          <a:prstGeom prst="line">
            <a:avLst/>
          </a:prstGeom>
          <a:noFill/>
          <a:ln w="10160">
            <a:solidFill>
              <a:srgbClr val="D0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28986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可信评测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0352" y="345643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场景隔离，避免近重复图造成评测虚高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530352" y="4681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8A6A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654 个独立场景</a:t>
            </a:r>
            <a:endParaRPr lang="en-US" sz="1720" dirty="0"/>
          </a:p>
        </p:txBody>
      </p:sp>
      <p:sp>
        <p:nvSpPr>
          <p:cNvPr id="15" name="Text 12"/>
          <p:cNvSpPr/>
          <p:nvPr/>
        </p:nvSpPr>
        <p:spPr>
          <a:xfrm>
            <a:off x="2953512" y="36850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A6CA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3401568" y="24231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3931920" y="2606040"/>
            <a:ext cx="1783080" cy="0"/>
          </a:xfrm>
          <a:prstGeom prst="line">
            <a:avLst/>
          </a:prstGeom>
          <a:noFill/>
          <a:ln w="10160">
            <a:solidFill>
              <a:srgbClr val="D0DD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01568" y="28986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低误报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401568" y="345643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正常机舱留出集量化无效提醒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3401568" y="4681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8A6A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 / 113</a:t>
            </a:r>
            <a:endParaRPr lang="en-US" sz="1720" dirty="0"/>
          </a:p>
        </p:txBody>
      </p:sp>
      <p:sp>
        <p:nvSpPr>
          <p:cNvPr id="21" name="Text 18"/>
          <p:cNvSpPr/>
          <p:nvPr/>
        </p:nvSpPr>
        <p:spPr>
          <a:xfrm>
            <a:off x="5824728" y="36850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A6CA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6272784" y="24231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803136" y="2606040"/>
            <a:ext cx="1783080" cy="0"/>
          </a:xfrm>
          <a:prstGeom prst="line">
            <a:avLst/>
          </a:prstGeom>
          <a:noFill/>
          <a:ln w="10160">
            <a:solidFill>
              <a:srgbClr val="D0DD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72784" y="28986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可视化定位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272784" y="345643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输出 mask / bbox / score，位置可核对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6272784" y="4681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8A6A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分割 + 框 + 分数</a:t>
            </a:r>
            <a:endParaRPr lang="en-US" sz="1720" dirty="0"/>
          </a:p>
        </p:txBody>
      </p:sp>
      <p:sp>
        <p:nvSpPr>
          <p:cNvPr id="27" name="Text 24"/>
          <p:cNvSpPr/>
          <p:nvPr/>
        </p:nvSpPr>
        <p:spPr>
          <a:xfrm>
            <a:off x="8695944" y="368503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A6CA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500" dirty="0"/>
          </a:p>
        </p:txBody>
      </p:sp>
      <p:sp>
        <p:nvSpPr>
          <p:cNvPr id="28" name="Text 25"/>
          <p:cNvSpPr/>
          <p:nvPr/>
        </p:nvSpPr>
        <p:spPr>
          <a:xfrm>
            <a:off x="9144000" y="24231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9674352" y="2606040"/>
            <a:ext cx="1783080" cy="0"/>
          </a:xfrm>
          <a:prstGeom prst="line">
            <a:avLst/>
          </a:prstGeom>
          <a:noFill/>
          <a:ln w="10160">
            <a:solidFill>
              <a:srgbClr val="D0DDE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44000" y="28986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明确边界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9144000" y="3456432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不把公开管道结果等同于真实机舱能力</a:t>
            </a:r>
            <a:endParaRPr lang="en-US" sz="1260" dirty="0"/>
          </a:p>
        </p:txBody>
      </p:sp>
      <p:sp>
        <p:nvSpPr>
          <p:cNvPr id="32" name="Text 29"/>
          <p:cNvSpPr/>
          <p:nvPr/>
        </p:nvSpPr>
        <p:spPr>
          <a:xfrm>
            <a:off x="9144000" y="46817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D97A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真实召回待验证</a:t>
            </a:r>
            <a:endParaRPr lang="en-US" sz="1720" dirty="0"/>
          </a:p>
        </p:txBody>
      </p:sp>
      <p:sp>
        <p:nvSpPr>
          <p:cNvPr id="33" name="Shape 30"/>
          <p:cNvSpPr/>
          <p:nvPr/>
        </p:nvSpPr>
        <p:spPr>
          <a:xfrm>
            <a:off x="530352" y="5330952"/>
            <a:ext cx="10936224" cy="0"/>
          </a:xfrm>
          <a:prstGeom prst="line">
            <a:avLst/>
          </a:prstGeom>
          <a:noFill/>
          <a:ln w="10160">
            <a:solidFill>
              <a:srgbClr val="D7E2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0352" y="551383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可复核证据链</a:t>
            </a:r>
            <a:endParaRPr lang="en-US" sz="1450" dirty="0"/>
          </a:p>
        </p:txBody>
      </p:sp>
      <p:sp>
        <p:nvSpPr>
          <p:cNvPr id="35" name="Text 32"/>
          <p:cNvSpPr/>
          <p:nvPr/>
        </p:nvSpPr>
        <p:spPr>
          <a:xfrm>
            <a:off x="1874520" y="550468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数据隔离  →  模型训练  →  独立评测  →  误报审计  →  可视化输出  →  人工判断</a:t>
            </a:r>
            <a:endParaRPr lang="en-US" sz="1330" dirty="0"/>
          </a:p>
        </p:txBody>
      </p:sp>
      <p:sp>
        <p:nvSpPr>
          <p:cNvPr id="36" name="Shape 33"/>
          <p:cNvSpPr/>
          <p:nvPr/>
        </p:nvSpPr>
        <p:spPr>
          <a:xfrm>
            <a:off x="0" y="6126480"/>
            <a:ext cx="12191695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43200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511296" y="61630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可信，不只来自模型分数，也来自评测方式和边界说明。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8796528" y="6300216"/>
            <a:ext cx="694944" cy="0"/>
          </a:xfrm>
          <a:prstGeom prst="line">
            <a:avLst/>
          </a:prstGeom>
          <a:noFill/>
          <a:ln w="12700">
            <a:solidFill>
              <a:srgbClr val="18A6A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A6A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50392" y="274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AABB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2416" y="256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结论与展望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03120" y="402336"/>
            <a:ext cx="7790688" cy="0"/>
          </a:xfrm>
          <a:prstGeom prst="line">
            <a:avLst/>
          </a:prstGeom>
          <a:noFill/>
          <a:ln w="10160">
            <a:solidFill>
              <a:srgbClr val="C8D6DD"/>
            </a:solidFill>
            <a:prstDash val="solid"/>
          </a:ln>
        </p:spPr>
      </p:sp>
      <p:pic>
        <p:nvPicPr>
          <p:cNvPr id="6" name="Image 0" descr="/mnt/data/aic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03781"/>
            <a:ext cx="1572768" cy="561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39728" y="65196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2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8912" y="832104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从可运行原型，走向真实机舱验证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37516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现阶段已经形成可复现实验链和辅助筛查原型，下一步重点是补足真实正样本与现场验证。</a:t>
            </a:r>
            <a:endParaRPr lang="en-US" sz="1820" dirty="0"/>
          </a:p>
        </p:txBody>
      </p:sp>
      <p:sp>
        <p:nvSpPr>
          <p:cNvPr id="10" name="Shape 7"/>
          <p:cNvSpPr/>
          <p:nvPr/>
        </p:nvSpPr>
        <p:spPr>
          <a:xfrm>
            <a:off x="512064" y="2231136"/>
            <a:ext cx="438912" cy="41148"/>
          </a:xfrm>
          <a:prstGeom prst="rect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2064" y="24323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当前已完成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30352" y="2953512"/>
            <a:ext cx="164592" cy="164592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95808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4672" y="290779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可运行的 YOLO11n-seg 图片分割原型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30352" y="3392424"/>
            <a:ext cx="164592" cy="164592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396996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04672" y="334670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按场景隔离的可复现实验与评测链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30352" y="3831336"/>
            <a:ext cx="164592" cy="164592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835908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04672" y="378561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正常机舱误报量化：2 / 113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30352" y="4270248"/>
            <a:ext cx="164592" cy="164592"/>
          </a:xfrm>
          <a:prstGeom prst="ellipse">
            <a:avLst/>
          </a:prstGeom>
          <a:solidFill>
            <a:srgbClr val="18A6A2"/>
          </a:solidFill>
          <a:ln w="12700">
            <a:solidFill>
              <a:srgbClr val="18A6A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274820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04672" y="422452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4425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Gradio 人工复核界面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12064" y="4736592"/>
            <a:ext cx="438912" cy="41148"/>
          </a:xfrm>
          <a:prstGeom prst="rect">
            <a:avLst/>
          </a:prstGeom>
          <a:solidFill>
            <a:srgbClr val="D97A32"/>
          </a:solidFill>
          <a:ln w="12700">
            <a:solidFill>
              <a:srgbClr val="D97A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" y="49377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F5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下一步验证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530352" y="5376672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0687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采集授权真实机舱滴漏、渗漏、积水与油污图  →  逐张标注  →  在相同误报水平比较召回  →  补充跨船型、光照与视频连续性验证  →  与传感器和人工巡检协同</a:t>
            </a:r>
            <a:endParaRPr lang="en-US" sz="1220" dirty="0"/>
          </a:p>
        </p:txBody>
      </p:sp>
      <p:pic>
        <p:nvPicPr>
          <p:cNvPr id="27" name="Image 1" descr="/mnt/data/巡检者_ppt_assets/image13.jpg"/>
          <p:cNvPicPr>
            <a:picLocks noChangeAspect="1"/>
          </p:cNvPicPr>
          <p:nvPr/>
        </p:nvPicPr>
        <p:blipFill>
          <a:blip r:embed="rId4"/>
          <a:srcRect t="670" b="670"/>
          <a:stretch/>
        </p:blipFill>
        <p:spPr>
          <a:xfrm>
            <a:off x="5879592" y="2148840"/>
            <a:ext cx="5797296" cy="3813048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5879592" y="5138928"/>
            <a:ext cx="5797296" cy="822960"/>
          </a:xfrm>
          <a:prstGeom prst="rect">
            <a:avLst/>
          </a:prstGeom>
          <a:solidFill>
            <a:srgbClr val="102F5E">
              <a:alpha val="78000"/>
            </a:srgbClr>
          </a:solidFill>
          <a:ln w="12700">
            <a:solidFill>
              <a:srgbClr val="102F5E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190488" y="5303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让机舱巡检多一双“可复核的眼睛”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9948672" y="565099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80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谢谢 · 欢迎提问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269</Words>
  <Application>Microsoft Office PowerPoint</Application>
  <PresentationFormat>宽屏</PresentationFormat>
  <Paragraphs>123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Noto Sans CJK SC</vt:lpstr>
      <vt:lpstr>Noto Serif CJK SC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jiale zhang</dc:creator>
  <cp:lastModifiedBy>jiale zhang</cp:lastModifiedBy>
  <cp:revision>1</cp:revision>
  <dcterms:created xsi:type="dcterms:W3CDTF">2026-09-25T08:52:23Z</dcterms:created>
  <dcterms:modified xsi:type="dcterms:W3CDTF">2026-09-25T08:58:28Z</dcterms:modified>
</cp:coreProperties>
</file>