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ADE74-8706-4A6F-8934-9F46F92F8A87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0423F-3C7C-4B28-91F8-5336206179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17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各位评委老师好，我们带来的是「巡检者」，面向轮机工程管路巡检的微滴检测与疑似漏液复核系统。简单说：给机舱巡检加一双可复核的眼睛。做的是辅助筛查，不接自动报警。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先给全貌。四个数字：参数只增加 0.39%，最高召回做到 83.3%，95 项工程检查零失败，1054 张图的数据口径是干净的。第二行的四个数必须一起看，后面会逐条给出边界。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三个困难。第一，滴非常小，48 个框短边不到 8 个像素。第二，金属高光和正常出水在视觉上和漏液无法区分。第三，真实正样本稀缺，98 张空标签图；空标签不等于设备正常。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目标定为辅助筛查，不做到自动判断。四步：观察、判断、复核、记录。下面三条是明确不做的，也请大家按这个标准检验。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四层架构。数据层管来源和哈希，算法层是 YOLOv8n 加 CSEdgeGate，事件层用 SQLite 留证，展示层是四视图网页。右边一列是每层对应的可核查证据。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这是唯一的算法改动。P3 特征分两路：一路走固定 Sobel 取边缘，一路走深度卷积取纹理，拼接后降维；同时 P4 上采样过来做单通道空间门控，以残差形式加回去。门控有一个 0.2 的下界，保证不会把某处彻底关死。注意右下角：门控乘在 BN 之后，这是实现细节但影响收敛。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这一页我认为是最重要的。三个设计决策都对应一次失败：边缘交给网络学会被平滑掉，所以写死 Sobel；只用 P3 自身做门控跨尺度失效，所以引入 P4；门控会塌缩，所以给了 0.2 的下界。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左边五个技术都是已有的，其中 Gated-SCNN 与本方案最接近，需要点明。右边四条是实际新增的部分：组合、任务适配、流程衔接、工程取舍记录。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数据这块有两处口径修正。第一，旧划分有 76.9% 的重合，0.7956 的 mAP 不予引用。第二，98 张空标签不能当负样本分母用，所以从不报“正常机舱误报率”。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三组结构，参数量差别很小。看数字：开发集静态图 A2 是 66.7%，A3 只有 61.1%，A2 还更高。但视频 ROI 抽样 A3 是 8/15，A2 只有 6/15。这决定了下一页的选型逻辑。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这一页是我最想请评委注意的。A2 和 A3 的置信区间大面积重叠，从统计上讲不能判优劣。选 A3 的依据是两个工程理由：视频 ROI 中 A3 更好，参数只多 0.39%。这是取舍，不是精度超越。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定稿数字。标准模式 11 正确 2 误检 7 漏检，精确率 84.6%，召回 61.1%。局部复核多捞回 2 个，误检没有增加，召回提到 72.2%，但慢 4.3 倍。训练集那一列只证明模型记住了训练数据。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召回不是一个数。同一份权重，960 输入能把召回从 61.1 拉到 83.3，但慢 2.4 倍。低价阈值的收益其实很小。我们的产品决策是：默认走标准档保证响应，可疑点位由人主动切到高召回档。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短边不到 8 个像素的目标召回 100%，中间三档都在 99% 左右，最大的那一档反而掉到 86.7%。原因是近景目标容易被裁切、拉长，预测框贴不上。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这一页照实列出四类失效：尺度差异漏检、金属高光误检、一滴两框、位置偏差导致 FP 和 FN 同时计数。这四类刚好也是下一步工作的方向。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系统演示。左边是主工作台，右边是事件复核、任务记录和模型说明。这里预留了一个 45 到 55 秒的一镜到底视频位，演示路线是：上传、推理、事件生成、切局部复核、导出。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很多人只看算法指标。我们对系统本身也做了完整验收：42 个单测、37 项端到端、16 项稳定性、2574 个文件哈希校验。过程中真的挖出 5 个缺陷，最典型的是线程泄漏和记录接口 p50 从 455 毫秒降到 16 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最后总结三件事。结构上：一处 P3 路径加的门控，参数只多 0.39%。流程上：从候选检测、事件入库、人工复核到三种格式导出，串成一条能跑通的流程。材料上：口径先行，A2 和 A3 分不出高下就照实写，旧划分的高指标不予引用，四类失效全部公开。这三件事都在交付包里，可以逐项复核。系统不替人下故障结论，只把可疑点位整理成可复核的线索。谢谢各位评委。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E6335-6DE4-D633-9DFF-2D1F91709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02D45D9-5F57-F82E-F21B-2E9FCD592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8700A2-54A4-5E0E-B2B7-EFD40B69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B14CD-4B2F-E0CA-3C67-74321711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26A93-BF57-67AD-C11E-3DDF9D2D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33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FA815-9316-CB53-049F-4C9EAB0B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0C981-B83A-BC98-BC57-81ACAE64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B8E975-0714-E76F-A26F-83C61B87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2EC264-C02E-AE43-C541-9B33BE05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B1C1B1-1848-30BC-1512-CF43BB82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7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BD7AE-F010-0755-F91E-963A1BFB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0F881D-6B5D-7936-01F9-D59E80F4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32341-6FD4-1B2F-1F7B-76726C9A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B98D2-F102-376E-B3EB-08635F2C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552B3-D293-C0D3-C14C-E03CED6D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43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087CB-3117-A39A-1F9E-918E105C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2B9DE-801C-AA17-53DF-7000594F4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211B14-E523-004F-6518-FF76652C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F14F3A-0A2E-6DA6-E33A-76DDE830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6CD641-E715-CFCA-F227-4814B167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E1B81A-6DEA-4D7F-9548-0ABE8B17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746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392F8-BD56-4F0B-FA8F-D24D5194C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52FFD-48B2-5693-BCDD-FCE5FC7E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EB214F-B8B4-B824-A1AD-1025E72DC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6204C2-CEC3-B5FA-DCE8-22D0B5302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6A34D3-1840-0BFF-1ED8-205E4CF65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6BC9B6-DEA2-ECFE-A7D7-8C039BC1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E51373-D8CC-0EA6-F8F5-CC84A632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F51131-9650-12B0-74DF-D8BCAD4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07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2BC6E-D219-B115-E0EE-A4AF4670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4D02F7-80B8-A556-59ED-BF6E01FEF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0D094B-3D49-7B67-8ECD-1C530B43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0C8850-0CB3-5077-5022-6E4E12B6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60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A3504A-89FC-D001-D4A1-72241174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9F1091-8171-162D-F437-5637300D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BC7B80-EE7C-32DC-B9C7-015D2E4E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45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8B44E-3EDE-CC86-F5BD-34584F0B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5A8A4-2BAF-5388-90B3-7854B2B5C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08A02B-7B74-3FF6-10D0-AC11CA226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EB1BD-C2E2-59B6-A0C8-05FF9B80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2EA802-33A5-CA8D-617E-7111549C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80F22A-D3CD-F9D8-2015-8E93B5A0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05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4B423-0364-23C5-52CE-B1ABA5C8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6EB591-E304-F443-7D6E-F3840E657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88F81-E2CA-BDCE-9C04-FBE888839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FCE615-BF35-C80B-A22C-AA797271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4A4AA9-44AE-0EBF-54EE-122DABF9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AD12C4-7A4C-94FC-314B-004495D8C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2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A1DFB-94ED-00EC-34DA-12571AD4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BB148E-5380-8BAF-1CD7-CC690341C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CD03D-7BDA-CAAA-B294-044750D0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B2423-8A03-8FC2-AD2B-382137EB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01DCD-D1EE-B689-D706-773FBE7F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5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1C0331-FA8C-D000-E3DB-2156D25D6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49960F-26F3-EA21-B3CE-6DA4560EA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C3A5F-9C5A-1DB0-47A2-BC6B3588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79371-F5FC-D406-5722-08193304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56B8A-EC35-3FB2-F04E-20406059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22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60087A-7608-5A0A-E3B0-0227BBB69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C3E25-E7F8-CE95-7EF3-FC44E48F0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347A6-4F10-A6F6-1589-4C0C2FDA2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A49ED-FDDA-4CD7-A61F-C96B99F4F2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956D16-F977-1D7C-87DE-B8ACDF2F2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9D411-09FE-14DD-BEF2-8E05285B7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8647B-77F7-4616-B36C-8F5BED44CC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3"/>
          <a:srcRect l="24609" r="24609"/>
          <a:stretch>
            <a:fillRect/>
          </a:stretch>
        </p:blipFill>
        <p:spPr>
          <a:xfrm>
            <a:off x="6967728" y="0"/>
            <a:ext cx="522396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02259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03720" y="0"/>
            <a:ext cx="64008" cy="6858000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32449"/>
            <a:ext cx="1517904" cy="5421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84832" y="502920"/>
            <a:ext cx="219456" cy="41148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4016" y="40233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AI + 学科交叉 · 算法创新赛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6309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巡 检 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395728"/>
            <a:ext cx="626364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1B4373"/>
                </a:solidFill>
                <a:latin typeface="Noto Serif SC"/>
                <a:ea typeface="Noto Serif SC"/>
                <a:cs typeface="Noto Serif SC"/>
              </a:rPr>
              <a:t>管路微滴检测与疑似漏液复核系统</a:t>
            </a:r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sz="1500" b="1" i="0">
                <a:solidFill>
                  <a:srgbClr val="0E7C79"/>
                </a:solidFill>
                <a:latin typeface="Noto Serif SC"/>
                <a:ea typeface="Noto Serif SC"/>
                <a:cs typeface="Noto Serif SC"/>
              </a:rPr>
              <a:t>轻量边缘增强 · 跨尺度门控 · 人工复核留证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3950208"/>
            <a:ext cx="658368" cy="41148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1225295" y="3968496"/>
            <a:ext cx="4059936" cy="0"/>
          </a:xfrm>
          <a:prstGeom prst="line">
            <a:avLst/>
          </a:prstGeom>
          <a:ln w="1143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2" y="422452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赛道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420624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算法创新赛 · AI＋学科交叉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6268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参赛编号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4608576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AIC-2026-89565014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5029200"/>
            <a:ext cx="1005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150" b="1" dirty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参赛队员</a:t>
            </a:r>
            <a:endParaRPr sz="1150" b="1" i="0" dirty="0">
              <a:solidFill>
                <a:srgbClr val="7C8E9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9616" y="5010912"/>
            <a:ext cx="4297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300" b="1" i="0" dirty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刘欣沅、张加乐、乔一鸣</a:t>
            </a:r>
            <a:endParaRPr sz="1300" b="1" i="0" dirty="0">
              <a:solidFill>
                <a:srgbClr val="24425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" y="5742432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A6A2"/>
                </a:solidFill>
                <a:latin typeface="Noto Serif SC"/>
                <a:ea typeface="Noto Serif SC"/>
                <a:cs typeface="Noto Serif SC"/>
              </a:rPr>
              <a:t>轮机工程 · 实验实训视觉观察环节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608990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2026 第八届全球校园人工智能算法精英大赛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一页看懂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核心主张：+0.39% 的参数，把“看不见的滴”变成“可复核的线索”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四个数字分别对应结构改动、召回变化、可运行系统与一套可逐项核对的材料。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439" y="2084831"/>
            <a:ext cx="2651760" cy="2084831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5439" y="2084831"/>
            <a:ext cx="41148" cy="2084831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183" y="2286000"/>
            <a:ext cx="22677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+0.39%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183" y="283464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结构增量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3183" y="3035808"/>
            <a:ext cx="2176272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3183" y="3163824"/>
            <a:ext cx="2249424" cy="896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CSEdgeGate 只增加 11,682 个参数，</a:t>
            </a:r>
          </a:p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接在 P3 检测路径上。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1791" y="2084831"/>
            <a:ext cx="2651760" cy="2084831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61791" y="2084831"/>
            <a:ext cx="41148" cy="2084831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9535" y="2286000"/>
            <a:ext cx="22677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8A6A2"/>
                </a:solidFill>
                <a:latin typeface="Consolas"/>
                <a:ea typeface="Consolas"/>
                <a:cs typeface="Consolas"/>
              </a:rPr>
              <a:t>83.3%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9535" y="283464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最高召回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99535" y="3035808"/>
            <a:ext cx="2176272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99535" y="3163824"/>
            <a:ext cx="2249424" cy="896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960 输入 + 0.15 阈值下的</a:t>
            </a:r>
          </a:p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开发集召回（基线 55.6%）。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8143" y="2084831"/>
            <a:ext cx="2651760" cy="2084831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8143" y="2084831"/>
            <a:ext cx="41148" cy="2084831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5887" y="2286000"/>
            <a:ext cx="22677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D97A32"/>
                </a:solidFill>
                <a:latin typeface="Consolas"/>
                <a:ea typeface="Consolas"/>
                <a:cs typeface="Consolas"/>
              </a:rPr>
              <a:t>95</a:t>
            </a:r>
            <a:r>
              <a:rPr sz="1300" b="0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83464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工程零失败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15887" y="3035808"/>
            <a:ext cx="2176272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5887" y="3163824"/>
            <a:ext cx="2249424" cy="896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单元 42 / 验收 37 / 稳定 16 /</a:t>
            </a:r>
          </a:p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完整性 2574 文件全部通过。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4495" y="2084831"/>
            <a:ext cx="2651760" cy="2084831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94495" y="2084831"/>
            <a:ext cx="41148" cy="2084831"/>
          </a:xfrm>
          <a:prstGeom prst="rect">
            <a:avLst/>
          </a:prstGeom>
          <a:solidFill>
            <a:srgbClr val="1B4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2239" y="2286000"/>
            <a:ext cx="226771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 i="0">
                <a:solidFill>
                  <a:srgbClr val="1B4373"/>
                </a:solidFill>
                <a:latin typeface="Consolas"/>
                <a:ea typeface="Consolas"/>
                <a:cs typeface="Consolas"/>
              </a:rPr>
              <a:t>1054</a:t>
            </a:r>
            <a:r>
              <a:rPr sz="1300" b="0" i="0">
                <a:solidFill>
                  <a:srgbClr val="1B4373"/>
                </a:solidFill>
                <a:latin typeface="Noto Sans SC"/>
                <a:ea typeface="Noto Sans SC"/>
                <a:cs typeface="Noto Sans SC"/>
              </a:rPr>
              <a:t>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2239" y="283464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数据口径清晰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32239" y="3035808"/>
            <a:ext cx="2176272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32239" y="3163824"/>
            <a:ext cx="2249424" cy="896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978 个标注框，正样本与空标签</a:t>
            </a:r>
          </a:p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分开统计，不混算。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4498848"/>
            <a:ext cx="11313871" cy="1207008"/>
          </a:xfrm>
          <a:prstGeom prst="rect">
            <a:avLst/>
          </a:prstGeom>
          <a:solidFill>
            <a:srgbClr val="EFF9F8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" y="4498848"/>
            <a:ext cx="45720" cy="1207008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" y="4626864"/>
            <a:ext cx="1060704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但这四个数字必须一起看。</a:t>
            </a:r>
          </a:p>
          <a:p>
            <a:pPr algn="l">
              <a:lnSpc>
                <a:spcPct val="128000"/>
              </a:lnSpc>
              <a:spcBef>
                <a:spcPts val="500"/>
              </a:spcBef>
            </a:pPr>
            <a:r>
              <a:rPr sz="11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单独摘出任何一个漂亮的指标都会失真：召回提升是用 2.5 倍耗时换来的，CSEdgeGate 的结构优势在当前样本量下并不具备统计显著性，而 95 项工程检查只证明“系统可运行、可追溯”，不证明检测精度。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0494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036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91329" y="6254496"/>
            <a:ext cx="32090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先把口径说清楚，再谈效果。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问题定义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机舱巡检的三个真实困难：滴太小、反光太像、正样本太少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通用目标检测那套设定在这里不成立：目标只有十几个像素，背景全是金属高光，真实漏液样本几乎拿不到。</a:t>
            </a:r>
          </a:p>
        </p:txBody>
      </p:sp>
      <p:pic>
        <p:nvPicPr>
          <p:cNvPr id="11" name="Picture 10" descr="image13.jpg"/>
          <p:cNvPicPr>
            <a:picLocks noChangeAspect="1"/>
          </p:cNvPicPr>
          <p:nvPr/>
        </p:nvPicPr>
        <p:blipFill>
          <a:blip r:embed="rId4"/>
          <a:srcRect l="13068" r="13068"/>
          <a:stretch>
            <a:fillRect/>
          </a:stretch>
        </p:blipFill>
        <p:spPr>
          <a:xfrm>
            <a:off x="438912" y="1993392"/>
            <a:ext cx="3566160" cy="32186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8912" y="5212080"/>
            <a:ext cx="3566160" cy="566928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3" y="52852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真实机舱现场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C9D8E4"/>
                </a:solidFill>
                <a:latin typeface="Noto Sans SC"/>
                <a:ea typeface="Noto Sans SC"/>
                <a:cs typeface="Noto Sans SC"/>
              </a:rPr>
              <a:t>管路密集、阀门与仪表密集、金属表面强反光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93392"/>
            <a:ext cx="7452360" cy="1133856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993392"/>
            <a:ext cx="41148" cy="1133856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213055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微滴只有十几个像素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450592"/>
            <a:ext cx="696772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978 个标注框里，48 个在原图中短边不足 8 像素，缩放到 640 输入后更加微小；短边中位数也只有 17.5 像素。小目标定位是首要矛盾。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291840"/>
            <a:ext cx="7452360" cy="1133856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3291840"/>
            <a:ext cx="41148" cy="1133856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3712" y="342900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金属高光与正常出水太像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749039"/>
            <a:ext cx="696772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机舱内大量阀门、表盘与管壁会产生强反光与亮斑；同一根管路上，正常悬挂水珠和异常渗漏在视觉上无法区分。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590288"/>
            <a:ext cx="7452360" cy="1133856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4590288"/>
            <a:ext cx="41148" cy="1133856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472744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真实漏液正样本稀缺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5047488"/>
            <a:ext cx="696772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1054 张图中 98 张是空标签背景。空标签的含义是“图中未见可确认的独立滴”，而不是“设备物理状态正常”；这条口径直接决定了指标怎么读。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3339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7191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519779" y="6254496"/>
            <a:ext cx="51521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三类困难里，金属高光与正常出水最难自动区分。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项目定位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从“自动判断”后退一步：做可复核的辅助筛查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系统输出的是候选位置与模型证据，是否存在泄漏仍由人结合设备工况判断。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2871" y="2121408"/>
            <a:ext cx="2487168" cy="15727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2871" y="2121408"/>
            <a:ext cx="2487168" cy="50292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039" y="228600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39" y="2560320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观察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39" y="2962656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图片 / 视频输入</a:t>
            </a:r>
          </a:p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模型给出疑似微滴候选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4903" y="2761488"/>
            <a:ext cx="25603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5799" y="2121408"/>
            <a:ext cx="2487168" cy="15727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25799" y="2121408"/>
            <a:ext cx="2487168" cy="50292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26967" y="228600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6967" y="2560320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6967" y="2962656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巡检人员结合工况</a:t>
            </a:r>
          </a:p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判断是否异常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7831" y="2761488"/>
            <a:ext cx="25603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2121408"/>
            <a:ext cx="2487168" cy="15727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78727" y="2121408"/>
            <a:ext cx="2487168" cy="50292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9895" y="228600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895" y="2560320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895" y="2962656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必要时切局部复核</a:t>
            </a:r>
          </a:p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或提高输入分辨率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0759" y="2761488"/>
            <a:ext cx="25603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31655" y="2121408"/>
            <a:ext cx="2487168" cy="15727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31655" y="2121408"/>
            <a:ext cx="2487168" cy="50292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32823" y="228600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79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2823" y="2560320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2823" y="2962656"/>
            <a:ext cx="20848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事件入库、证据留图</a:t>
            </a:r>
          </a:p>
          <a:p>
            <a:pPr algn="l">
              <a:lnSpc>
                <a:spcPct val="124000"/>
              </a:lnSpc>
            </a:pPr>
            <a:r>
              <a:rPr sz="10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CSV / JSON / HTML 导出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3950208"/>
            <a:ext cx="11313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明确不做什么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3950208"/>
            <a:ext cx="45720" cy="237744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" y="4315968"/>
            <a:ext cx="36393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44439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不做自动报警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4736592"/>
            <a:ext cx="33101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界面持续显示“辅助观察 · 人工最终判断”，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不把检测框等同于故障结论。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42816" y="4315968"/>
            <a:ext cx="36393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25696" y="44439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不宣称通用能力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4736592"/>
            <a:ext cx="33101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只做“可见独立水滴”这一类目标；连续水柱、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湿斑、积水不标成滴，也不作为模型目标。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315968"/>
            <a:ext cx="36393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44439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不掩盖负结果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736592"/>
            <a:ext cx="331012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A2 与 A3、增广、伪标签、遮挡训练等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尝试未稳定提升，均保留在报告里。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" y="5687568"/>
            <a:ext cx="11313871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边界声明：检测到水滴不等于确认设备漏液，未检出也不等于设备无泄漏。模型输出候选位置，不下故障结论。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系统架构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四层本机架构：数据 → 算法 → 事件 → 展示，全部可在单机跑通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不依赖云端、不依赖外部 pip 版 ultralytics，交付包内含隔离的推理源码副本。</a:t>
            </a:r>
          </a:p>
        </p:txBody>
      </p:sp>
      <p:pic>
        <p:nvPicPr>
          <p:cNvPr id="11" name="Picture 10" descr="fig1_架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08" y="2029968"/>
            <a:ext cx="7393847" cy="3703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56448" y="2139696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每一层对应的证据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6448" y="2487168"/>
            <a:ext cx="45720" cy="786384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87168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24912"/>
            <a:ext cx="34015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图像与标签清单、来源、SHA-256</a:t>
            </a:r>
          </a:p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权重指纹 f6c4f73e…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3419856"/>
            <a:ext cx="45720" cy="786384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419856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算法层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57600"/>
            <a:ext cx="34015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A0/A2/A3 三套结构配置</a:t>
            </a:r>
          </a:p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csedgegate.py 独立模块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4352544"/>
            <a:ext cx="45720" cy="786384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352544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事件层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90288"/>
            <a:ext cx="34015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SQLite 事件库、证据图、</a:t>
            </a:r>
          </a:p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复核历史、乐观锁写入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5285232"/>
            <a:ext cx="45720" cy="786384"/>
          </a:xfrm>
          <a:prstGeom prst="rect">
            <a:avLst/>
          </a:prstGeom>
          <a:solidFill>
            <a:srgbClr val="0E7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5285232"/>
            <a:ext cx="3383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79"/>
                </a:solidFill>
                <a:latin typeface="Noto Sans SC"/>
                <a:ea typeface="Noto Sans SC"/>
                <a:cs typeface="Noto Sans SC"/>
              </a:rPr>
              <a:t>展示层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522976"/>
            <a:ext cx="3401568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四视图网页、三种导出格式</a:t>
            </a:r>
          </a:p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数值全部来自本地后端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0159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10371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87979" y="6254496"/>
            <a:ext cx="6015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四层架构在本机单进程内跑通，不依赖云端与外部推理包。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算法创新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CSEdgeGate：固定边缘 + 轻量纹理 + P4 跨尺度门控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只改 P3 检测路径一处，参数增加 0.39%，不改变 YOLOv8n 的整体拓扑。</a:t>
            </a:r>
          </a:p>
        </p:txBody>
      </p:sp>
      <p:pic>
        <p:nvPicPr>
          <p:cNvPr id="11" name="Picture 10" descr="fig2_csedge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155978"/>
            <a:ext cx="7635240" cy="341472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01583" y="2066543"/>
            <a:ext cx="3657600" cy="3675887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1583" y="2066543"/>
            <a:ext cx="45720" cy="3675887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33101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三行公式说完全部改动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05456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边缘响应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34056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E = |Gx⊛φ₃(x₃)| + |Gy⊛φ₃(x₃)|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54096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固定 Sobel，不学习，1/8 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45643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 err="1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空间门控</a:t>
            </a:r>
            <a:endParaRPr sz="1050" b="1" i="0" dirty="0">
              <a:solidFill>
                <a:srgbClr val="18A6A2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3685032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 dirty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s = ε + (1−ε)·σ(Conv([</a:t>
            </a:r>
            <a:r>
              <a:rPr sz="1019" b="1" i="0" dirty="0" err="1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v,u</a:t>
            </a:r>
            <a:r>
              <a:rPr sz="1019" b="1" i="0" dirty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]))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05072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ε = 0.2 固定下界，u 来自 P4 上采样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07408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残差回注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36008"/>
            <a:ext cx="33101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y = x₃ + α·(r ⊙ 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956048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α 初始 0.1 可学习，门控乘在 BN 之后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0" y="5394960"/>
            <a:ext cx="3218688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21040" y="5468112"/>
            <a:ext cx="32186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隐通道 d = 32 · 仅第 22 层新增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59787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45523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46171" y="6254496"/>
            <a:ext cx="64993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门控必须乘在 BN 之后，否则批归一化的尺度会吃掉门控信号。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设计动机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三个设计决策，各自回答一个具体的失效现象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三个决策分别对应一次可复现的失败实验。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29968"/>
            <a:ext cx="3639312" cy="29443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2029968"/>
            <a:ext cx="3639312" cy="45720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决策一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32304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边缘用固定 Sobel，不交给网络学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3054096"/>
            <a:ext cx="3200400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3145536"/>
            <a:ext cx="3218688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现象：微滴的判别信息主要是轮廓与高光边界，而这个信号在 3 个像素宽度上极其脆弱。</a:t>
            </a:r>
          </a:p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做法：把梯度响应写死，网络只需要学“在哪儿放大它”。</a:t>
            </a:r>
          </a:p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收益：梯度分支零参数，不会被小样本训歪。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029968"/>
            <a:ext cx="3639312" cy="29443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60" y="2029968"/>
            <a:ext cx="3639312" cy="45720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1416" y="219456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决策二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432304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门控条件取自 P4 粗粒度上下文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71416" y="3054096"/>
            <a:ext cx="3200400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71416" y="3145536"/>
            <a:ext cx="3218688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现象：同一帧里既有贴近镜头的大滴，也有远处的小滴，尺度跨度大。</a:t>
            </a:r>
          </a:p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做法：用粗粒度的 P4 上下文去调节 P3 的增强强度。</a:t>
            </a:r>
          </a:p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收益：视频 ROI 抽样中 A3 匹配 8/15，A2 为 6/15，帧间尺度变化时更稳。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5008" y="2029968"/>
            <a:ext cx="3639312" cy="29443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65008" y="2029968"/>
            <a:ext cx="3639312" cy="45720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219456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决策三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432304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门控给 0.2 的固定下界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84464" y="3054096"/>
            <a:ext cx="3200400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84464" y="3145536"/>
            <a:ext cx="3218688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现象：早期实验中门控容易塌缩到全 0，增强分支被整体关掉。</a:t>
            </a:r>
          </a:p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做法：s 永远不低于 ε=0.2，只允许调节强弱，不允许彻底关闭。</a:t>
            </a:r>
          </a:p>
          <a:p>
            <a:pPr algn="l">
              <a:lnSpc>
                <a:spcPct val="142000"/>
              </a:lnSpc>
            </a:pPr>
            <a:r>
              <a:rPr sz="112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收益：训练更稳定，且 α 仍可学，最终强度交给优化器。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175504"/>
            <a:ext cx="11313871" cy="932688"/>
          </a:xfrm>
          <a:prstGeom prst="rect">
            <a:avLst/>
          </a:prstGeom>
          <a:solidFill>
            <a:srgbClr val="EFF9F8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" y="5175504"/>
            <a:ext cx="45720" cy="932688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5285232"/>
            <a:ext cx="105613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每一条约束都对应一次可复现的失败。</a:t>
            </a:r>
          </a:p>
          <a:p>
            <a:pPr algn="l">
              <a:lnSpc>
                <a:spcPct val="126000"/>
              </a:lnSpc>
              <a:spcBef>
                <a:spcPts val="400"/>
              </a:spcBef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第一版把边缘交给可学习卷积，3 个像素的边界被直接平滑掉；第二版门控只看 P3 自身，跨尺度场景失效；第三版门控整体塌缩到接近 0。每一条设计约束都对应一次可复现的失败。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1749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8781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03879" y="6254496"/>
            <a:ext cx="55839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三处改动都可以单独关掉，用来复现对应的失败现象。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方法边界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不宣称首创：这是既有技术的针对性组合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Sobel、残差、注意力门控均为已有技术；下面是本项目实际新增的部分。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11680"/>
            <a:ext cx="553212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15798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8E9B"/>
                </a:solidFill>
                <a:latin typeface="Noto Serif SC"/>
                <a:ea typeface="Noto Serif SC"/>
                <a:cs typeface="Noto Serif SC"/>
              </a:rPr>
              <a:t>已有技术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50545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Sobel 边缘算子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5054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经典图像处理，1968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07238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残差连接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3072384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ResNet，2015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63931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空间注意力门控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3552" y="3639312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SENet / CBAM / Attention U-Net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2062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形状门控融合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4206240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Gated-SCNN，ICCV 2019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77316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单阶段检测器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4773168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YOLOv8n，Ultralytics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8095" y="2011680"/>
            <a:ext cx="5504688" cy="3547872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4127" y="215798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D4D2"/>
                </a:solidFill>
                <a:latin typeface="Noto Serif SC"/>
                <a:ea typeface="Noto Serif SC"/>
                <a:cs typeface="Noto Serif SC"/>
              </a:rPr>
              <a:t>本项目新增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4127" y="2523744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针对性组合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4127" y="2761487"/>
            <a:ext cx="48828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把固定边缘、轻量纹理、P4 条件门控组合到</a:t>
            </a:r>
          </a:p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YOLOv8n 的 P3 检测路径上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4127" y="3291839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任务适配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4127" y="3529583"/>
            <a:ext cx="48828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面向“可辨独立微滴”的目标定义，</a:t>
            </a:r>
          </a:p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限定任务范围，不做通用检测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4127" y="4059935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方法接到流程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4127" y="4297679"/>
            <a:ext cx="48828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检测结果接入轮机工况复核，</a:t>
            </a:r>
          </a:p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输出可追溯的证据链，而非单个分数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4127" y="4828031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工程取舍记录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4127" y="5065775"/>
            <a:ext cx="488289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记录 A2/A3 差异不显著、负结果与</a:t>
            </a:r>
          </a:p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失效案例，选型依据落在工程量级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687568"/>
            <a:ext cx="1131387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参考文献：Gated-SCNN (Takikawa et al., ICCV 2019)；Wilson (1927) 置信区间；Ultralytics YOLOv8 文档；竞赛规则 2026 年 5 月版。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数据口径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1054 张图、978 个框：评测口径先定，再报指标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旧划分中约 76.9% 的测试图曾在训练集中出现，因此不沿用那组更高的指标。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29968"/>
            <a:ext cx="2688336" cy="184708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2029968"/>
            <a:ext cx="41148" cy="1847088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231136"/>
            <a:ext cx="230428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1054</a:t>
            </a:r>
            <a:r>
              <a:rPr sz="1300" b="0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111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总图像数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6656" y="2912364"/>
            <a:ext cx="2212848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6656" y="3040380"/>
            <a:ext cx="2286000" cy="726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1031 训练 / 23 开发验证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2029968"/>
            <a:ext cx="2688336" cy="184708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3552" y="2029968"/>
            <a:ext cx="41148" cy="1847088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1296" y="2231136"/>
            <a:ext cx="230428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8A6A2"/>
                </a:solidFill>
                <a:latin typeface="Consolas"/>
                <a:ea typeface="Consolas"/>
                <a:cs typeface="Consolas"/>
              </a:rPr>
              <a:t>978</a:t>
            </a:r>
            <a:r>
              <a:rPr sz="1300" b="0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27111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标注目标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11296" y="2912364"/>
            <a:ext cx="2212848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11296" y="3040380"/>
            <a:ext cx="2286000" cy="726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960 训练 / 18 开发验证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2029968"/>
            <a:ext cx="2688336" cy="184708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08192" y="2029968"/>
            <a:ext cx="41148" cy="1847088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2231136"/>
            <a:ext cx="230428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D97A32"/>
                </a:solidFill>
                <a:latin typeface="Consolas"/>
                <a:ea typeface="Consolas"/>
                <a:cs typeface="Consolas"/>
              </a:rPr>
              <a:t>98</a:t>
            </a:r>
            <a:r>
              <a:rPr sz="1300" b="0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7111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空标签背景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45936" y="2912364"/>
            <a:ext cx="2212848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45936" y="3040380"/>
            <a:ext cx="2286000" cy="726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训练 87 / 开发 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2832" y="2029968"/>
            <a:ext cx="2688336" cy="184708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42832" y="2029968"/>
            <a:ext cx="41148" cy="1847088"/>
          </a:xfrm>
          <a:prstGeom prst="rect">
            <a:avLst/>
          </a:prstGeom>
          <a:solidFill>
            <a:srgbClr val="1B4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0576" y="2231136"/>
            <a:ext cx="230428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B4373"/>
                </a:solidFill>
                <a:latin typeface="Consolas"/>
                <a:ea typeface="Consolas"/>
                <a:cs typeface="Consolas"/>
              </a:rPr>
              <a:t>17.5</a:t>
            </a:r>
            <a:r>
              <a:rPr sz="1300" b="0" i="0">
                <a:solidFill>
                  <a:srgbClr val="1B4373"/>
                </a:solidFill>
                <a:latin typeface="Noto Sans SC"/>
                <a:ea typeface="Noto Sans SC"/>
                <a:cs typeface="Noto Sans SC"/>
              </a:rPr>
              <a:t>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27111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短边中位数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2912364"/>
            <a:ext cx="2212848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80576" y="3040380"/>
            <a:ext cx="2286000" cy="726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最小分箱 48 个框 &lt; 8px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4059936"/>
            <a:ext cx="5577840" cy="1536192"/>
          </a:xfrm>
          <a:prstGeom prst="rect">
            <a:avLst/>
          </a:prstGeom>
          <a:solidFill>
            <a:srgbClr val="EFF9F8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8912" y="4059936"/>
            <a:ext cx="45720" cy="1536192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" y="418795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标注口径（写进报告，也写进数据卡）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4480560"/>
            <a:ext cx="513892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6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只标“可辨独立滴或悬挂滴”；连续水柱、湿斑、积水、
金属与反光不直接标成滴；</a:t>
            </a:r>
          </a:p>
          <a:p>
            <a:pPr algn="l">
              <a:lnSpc>
                <a:spcPct val="128000"/>
              </a:lnSpc>
            </a:pPr>
            <a:r>
              <a:rPr sz="106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无法确定的亮点保留为疑点，不以模型框反向制造标签。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059936"/>
            <a:ext cx="5532120" cy="1536192"/>
          </a:xfrm>
          <a:prstGeom prst="rect">
            <a:avLst/>
          </a:prstGeom>
          <a:solidFill>
            <a:srgbClr val="FBEFE6"/>
          </a:solidFill>
          <a:ln w="9525">
            <a:solidFill>
              <a:srgbClr val="EE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4059936"/>
            <a:ext cx="45720" cy="1536192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55664" y="41879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空标签 ≠ 设备正常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4480560"/>
            <a:ext cx="504748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6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空标签指“该图中未见可确认的独立滴”，
与“设备物理状态正常”无关。</a:t>
            </a:r>
          </a:p>
          <a:p>
            <a:pPr algn="l">
              <a:lnSpc>
                <a:spcPct val="126000"/>
              </a:lnSpc>
            </a:pPr>
            <a:r>
              <a:rPr sz="106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所以 98 张空标签图不能当作“负样本准确率”的分母，
也不能报告“正常机舱误报率”。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5705856"/>
            <a:ext cx="11313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训练集上的 99.5% 高匹配来自模型记忆，不作为泛化能力证据；开发集已被反复用于调参，不构成独立盲测。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7314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3216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59529" y="6254496"/>
            <a:ext cx="40726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后续所有指标都按这一页的口径计算。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结构对照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A0 / A2 / A3：同数据、同热启动、同超参的三组结构对照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为了分离“边缘纹理”和“跨尺度门控”各自的贡献，我们只改结构，不动其他任何变量。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4583" y="2011680"/>
            <a:ext cx="3547872" cy="24871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327" y="21762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7C8E9B"/>
                </a:solidFill>
                <a:latin typeface="Consolas"/>
                <a:ea typeface="Consolas"/>
                <a:cs typeface="Consolas"/>
              </a:rPr>
              <a:t>A0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3303" y="2286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原始 YOLOv8n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327" y="2724912"/>
            <a:ext cx="3072384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327" y="2834640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参数量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047" y="2807208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425C"/>
                </a:solidFill>
                <a:latin typeface="Consolas"/>
                <a:ea typeface="Consolas"/>
                <a:cs typeface="Consolas"/>
              </a:rPr>
              <a:t>3,011,043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327" y="334670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相对 A0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1047" y="3319272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425C"/>
                </a:solidFill>
                <a:latin typeface="Consolas"/>
                <a:ea typeface="Consolas"/>
                <a:cs typeface="Consolas"/>
              </a:rPr>
              <a:t>——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327" y="3858768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跨尺度门控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1047" y="3831336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1911" y="2011680"/>
            <a:ext cx="3547872" cy="248716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9655" y="21762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A6A2"/>
                </a:solidFill>
                <a:latin typeface="Consolas"/>
                <a:ea typeface="Consolas"/>
                <a:cs typeface="Consolas"/>
              </a:rPr>
              <a:t>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631" y="2286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边缘 + 纹理，去门控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59655" y="2724912"/>
            <a:ext cx="3072384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59655" y="2834640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参数量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48375" y="2807208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425C"/>
                </a:solidFill>
                <a:latin typeface="Consolas"/>
                <a:ea typeface="Consolas"/>
                <a:cs typeface="Consolas"/>
              </a:rPr>
              <a:t>3,017,796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9655" y="334670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相对 A0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8375" y="3319272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425C"/>
                </a:solidFill>
                <a:latin typeface="Consolas"/>
                <a:ea typeface="Consolas"/>
                <a:cs typeface="Consolas"/>
              </a:rPr>
              <a:t>+6,753 / +0.22%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9655" y="3858768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跨尺度门控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8375" y="3831336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9239" y="2011680"/>
            <a:ext cx="3547872" cy="2487168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6983" y="217627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7959" y="2286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B9D3E6"/>
                </a:solidFill>
                <a:latin typeface="Noto Sans SC"/>
                <a:ea typeface="Noto Sans SC"/>
                <a:cs typeface="Noto Sans SC"/>
              </a:rPr>
              <a:t>完整跨尺度门控（定稿）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26983" y="2724912"/>
            <a:ext cx="3072384" cy="0"/>
          </a:xfrm>
          <a:prstGeom prst="line">
            <a:avLst/>
          </a:prstGeom>
          <a:ln w="9525">
            <a:solidFill>
              <a:srgbClr val="395C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26983" y="2834640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9CBDD6"/>
                </a:solidFill>
                <a:latin typeface="Noto Sans SC"/>
                <a:ea typeface="Noto Sans SC"/>
                <a:cs typeface="Noto Sans SC"/>
              </a:rPr>
              <a:t>参数量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15703" y="2807208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3,022,725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6983" y="3346704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9CBDD6"/>
                </a:solidFill>
                <a:latin typeface="Noto Sans SC"/>
                <a:ea typeface="Noto Sans SC"/>
                <a:cs typeface="Noto Sans SC"/>
              </a:rPr>
              <a:t>相对 A0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5703" y="3319272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+11,682 / +0.39%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6983" y="3858768"/>
            <a:ext cx="11704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9CBDD6"/>
                </a:solidFill>
                <a:latin typeface="Noto Sans SC"/>
                <a:ea typeface="Noto Sans SC"/>
                <a:cs typeface="Noto Sans SC"/>
              </a:rPr>
              <a:t>跨尺度门控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5703" y="3831336"/>
            <a:ext cx="18836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有 · 第 22 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" y="4809744"/>
            <a:ext cx="11313871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4901184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开发集召回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04288" y="48828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7C8E9B"/>
                </a:solidFill>
                <a:latin typeface="Consolas"/>
                <a:ea typeface="Consolas"/>
                <a:cs typeface="Consolas"/>
              </a:rPr>
              <a:t>55.6%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48828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E7C79"/>
                </a:solidFill>
                <a:latin typeface="Consolas"/>
                <a:ea typeface="Consolas"/>
                <a:cs typeface="Consolas"/>
              </a:rPr>
              <a:t>66.7%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59935" y="48828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61.1%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4901184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TP/18 = 10 / 12 / 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175504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视频 ROI 匹配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04288" y="515721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7C8E9B"/>
                </a:solidFill>
                <a:latin typeface="Consolas"/>
                <a:ea typeface="Consolas"/>
                <a:cs typeface="Consolas"/>
              </a:rPr>
              <a:t>0/15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515721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E7C79"/>
                </a:solidFill>
                <a:latin typeface="Consolas"/>
                <a:ea typeface="Consolas"/>
                <a:cs typeface="Consolas"/>
              </a:rPr>
              <a:t>6/15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59935" y="515721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8/15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5175504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同视频抽帧，A3 优势明显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449824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加粗项为定稿选择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04288" y="543153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7C8E9B"/>
                </a:solidFill>
                <a:latin typeface="Consolas"/>
                <a:ea typeface="Consolas"/>
                <a:cs typeface="Consolas"/>
              </a:rPr>
              <a:t>——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82112" y="543153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0E7C79"/>
                </a:solidFill>
                <a:latin typeface="Consolas"/>
                <a:ea typeface="Consolas"/>
                <a:cs typeface="Consolas"/>
              </a:rPr>
              <a:t>候补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59935" y="543153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选定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5449824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依据见下一页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4288" y="4553712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A0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2112" y="4553712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A2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9935" y="4553712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A3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4553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指标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310231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095079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096615" y="6254496"/>
            <a:ext cx="599846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静态图上 A2 反而略高；A3 的价值在视频帧间尺度变化。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选型依据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A2 与 A3 的差异不具统计显著性：18 个框的样本量不够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1 个匹配的差异只有 5.6 个百分点，远小于 Wilson 区间宽度；选型只能靠工程理由。</a:t>
            </a:r>
          </a:p>
        </p:txBody>
      </p:sp>
      <p:pic>
        <p:nvPicPr>
          <p:cNvPr id="11" name="Picture 10" descr="fig5_置信区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085780"/>
            <a:ext cx="6903720" cy="29424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" y="5138928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图：三种结构在开发集上的召回率与 95% Wilson 置信区间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029968"/>
            <a:ext cx="4279392" cy="1883664"/>
          </a:xfrm>
          <a:prstGeom prst="rect">
            <a:avLst/>
          </a:prstGeom>
          <a:solidFill>
            <a:srgbClr val="FBEFE6"/>
          </a:solidFill>
          <a:ln w="9525">
            <a:solidFill>
              <a:srgbClr val="EE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79792" y="2029968"/>
            <a:ext cx="45720" cy="1883664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2157984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区间读数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432304"/>
            <a:ext cx="3877056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2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A2  43.8% – 83.7%</a:t>
            </a:r>
          </a:p>
          <a:p>
            <a:pPr algn="l">
              <a:lnSpc>
                <a:spcPct val="130000"/>
              </a:lnSpc>
            </a:pPr>
            <a:r>
              <a:rPr sz="112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A3  38.6% – 79.7%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两区间大幅重叠，不能判定静态图上谁更好。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4059936"/>
            <a:ext cx="4279392" cy="1700784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79792" y="4059936"/>
            <a:ext cx="45720" cy="1700784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17536" y="418795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那为什么选 A3？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4462272"/>
            <a:ext cx="389534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① 视频 ROI 抽样 8/15 对 6/15，
    P4 条件在帧间尺度变化时更有效；</a:t>
            </a:r>
          </a:p>
          <a:p>
            <a:pPr algn="l">
              <a:lnSpc>
                <a:spcPct val="126000"/>
              </a:lnSpc>
            </a:pPr>
            <a:r>
              <a:rPr sz="1019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② 门控只增加 0.39% 参数，代价可忽略。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5669280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这只是工程取舍。多随机种子的公平消融已列入后续计划。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9364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1166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80029" y="6254496"/>
            <a:ext cx="62316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统计上分不出高下，选型依据只能落在工程量级与视频表现。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定稿表现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定稿模型在开发集上的实测：标准 11/2/7，局部复核 13/2/5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统一口径：IoU ≥ 0.5 一对一匹配，置信度 0.25，输入 640，去重 IoU 0.5。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855" y="2011680"/>
            <a:ext cx="3621024" cy="312724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4855" y="2011680"/>
            <a:ext cx="3621024" cy="50292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2599" y="2176272"/>
            <a:ext cx="31638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标准模式 · 640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599" y="2450592"/>
            <a:ext cx="3163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TP / FP / 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599" y="2633472"/>
            <a:ext cx="31821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11 / 2 / 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2599" y="3127248"/>
            <a:ext cx="3145536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2599" y="32369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精确率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0151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84.6%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599" y="36210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召回率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0151" y="3584448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61.1%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599" y="40050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0151" y="3968496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0.710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599" y="43891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单图耗时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0151" y="435254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48.7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599" y="4736592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默认交互模式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5335" y="2011680"/>
            <a:ext cx="3621024" cy="312724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85335" y="2011680"/>
            <a:ext cx="3621024" cy="50292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3079" y="2176272"/>
            <a:ext cx="31638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局部复核 · 640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3079" y="2450592"/>
            <a:ext cx="3163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TP / FP / FN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3079" y="2633472"/>
            <a:ext cx="31821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13 / 2 / 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23079" y="3127248"/>
            <a:ext cx="3145536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23079" y="32369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精确率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0631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86.7%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3079" y="36210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召回率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631" y="3584448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72.2%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3079" y="40050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0631" y="3968496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0.788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3079" y="43891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单图耗时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10631" y="435254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233.2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3079" y="4736592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人工主动触发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815" y="2011680"/>
            <a:ext cx="3621024" cy="3127248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5815" y="2011680"/>
            <a:ext cx="3621024" cy="50292"/>
          </a:xfrm>
          <a:prstGeom prst="rect">
            <a:avLst/>
          </a:prstGeom>
          <a:solidFill>
            <a:srgbClr val="7C8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3559" y="2176272"/>
            <a:ext cx="31638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训练集 · 1031 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3559" y="2450592"/>
            <a:ext cx="316382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TP / FP / FN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3559" y="2633472"/>
            <a:ext cx="31821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955 / 5 / 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363559" y="3127248"/>
            <a:ext cx="3145536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63559" y="323697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精确率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51111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99.5%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3559" y="362102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召回率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1111" y="3584448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99.5%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3559" y="400507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F1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1111" y="3968496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——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3559" y="43891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单图耗时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51111" y="435254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7516F"/>
                </a:solidFill>
                <a:latin typeface="Consolas"/>
                <a:ea typeface="Consolas"/>
                <a:cs typeface="Consolas"/>
              </a:rPr>
              <a:t>——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3559" y="4736592"/>
            <a:ext cx="3182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仅证明记忆，不作泛化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" y="5394960"/>
            <a:ext cx="11313871" cy="548640"/>
          </a:xfrm>
          <a:prstGeom prst="rect">
            <a:avLst/>
          </a:prstGeom>
          <a:solidFill>
            <a:srgbClr val="EFF9F8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8912" y="5394960"/>
            <a:ext cx="45720" cy="548640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6656" y="5477256"/>
            <a:ext cx="108813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局部复核相对标准模式多匹配</a:t>
            </a:r>
            <a:r>
              <a:rPr sz="110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2 </a:t>
            </a:r>
            <a:r>
              <a:rPr sz="110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个目标，误检持平（都是</a:t>
            </a:r>
            <a:r>
              <a:rPr sz="110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2 个），</a:t>
            </a:r>
            <a:r>
              <a:rPr sz="110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召回提升</a:t>
            </a:r>
            <a:r>
              <a:rPr sz="110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11.1 </a:t>
            </a:r>
            <a:r>
              <a:rPr sz="110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个百分点，单图耗时约为</a:t>
            </a:r>
            <a:r>
              <a:rPr sz="110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4.3 倍。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99537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805773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385921" y="6254496"/>
            <a:ext cx="54198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表内每个数字都是开发集 18 个标注框上的实测值。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召回与代价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召回可以配置：六种输入与阈值组合的实测取舍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同一份权重，换输入分辨率与复核策略，就能在召回和耗时之间移动。</a:t>
            </a:r>
          </a:p>
        </p:txBody>
      </p:sp>
      <p:pic>
        <p:nvPicPr>
          <p:cNvPr id="11" name="Picture 10" descr="fig4_召回代价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60" y="2066543"/>
            <a:ext cx="5769663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" y="535838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图：开发集上各观察模式的召回率与单图耗时（CPU 实测）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011680"/>
            <a:ext cx="5074920" cy="1481328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1152" y="213969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FD4D2"/>
                </a:solidFill>
                <a:latin typeface="Noto Sans SC"/>
                <a:ea typeface="Noto Sans SC"/>
                <a:cs typeface="Noto Sans SC"/>
              </a:rPr>
              <a:t>提高分辨率是最有效的手段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2432304"/>
            <a:ext cx="4626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61.1%</a:t>
            </a:r>
            <a:r>
              <a:rPr sz="1600" b="1" i="0">
                <a:solidFill>
                  <a:srgbClr val="8FD4D2"/>
                </a:solidFill>
                <a:latin typeface="Noto Sans SC"/>
                <a:ea typeface="Noto Sans SC"/>
                <a:cs typeface="Noto Sans SC"/>
              </a:rPr>
              <a:t>  →  </a:t>
            </a:r>
            <a:r>
              <a:rPr sz="26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83.3%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980944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C3D4E2"/>
                </a:solidFill>
                <a:latin typeface="Noto Sans SC"/>
                <a:ea typeface="Noto Sans SC"/>
                <a:cs typeface="Noto Sans SC"/>
              </a:rPr>
              <a:t>标准 640 · 0.25  →  960 输入 · 0.15 阈值，召回提升 22.2 个百分点，耗时约 2.4 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639312"/>
            <a:ext cx="5074920" cy="713232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75120" y="3639312"/>
            <a:ext cx="45720" cy="713232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4576" y="3712463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降阈值，收益有限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393192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0.25 → 0.15 只换来 5.6 个百分点召回，</a:t>
            </a:r>
          </a:p>
          <a:p>
            <a:pPr algn="l">
              <a:lnSpc>
                <a:spcPct val="118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但误检从 2 增到 3。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462272"/>
            <a:ext cx="5074920" cy="713232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75120" y="4462272"/>
            <a:ext cx="45720" cy="713232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94576" y="4535424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局部复核，F1 最高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475488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0.15 阈值下 F1 达 0.800，</a:t>
            </a:r>
          </a:p>
          <a:p>
            <a:pPr algn="l">
              <a:lnSpc>
                <a:spcPct val="118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是六种配置里最好的。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5285232"/>
            <a:ext cx="5074920" cy="713232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75120" y="5285232"/>
            <a:ext cx="45720" cy="713232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94576" y="5358384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默认不用最高召回档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5577840"/>
            <a:ext cx="47000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因为 2.4 倍耗时会直接损害交互体验，</a:t>
            </a:r>
          </a:p>
          <a:p>
            <a:pPr algn="l">
              <a:lnSpc>
                <a:spcPct val="118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高召回档交给人工主动触发。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570585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以上耗时均为 CPU 实测；GPU 环境会显著更低，两组数字不可直接比较。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80893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624417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67277" y="6254496"/>
            <a:ext cx="50571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六种配置的召回—耗时曲线，就是可选的工作点。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能力边界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能力边界：极小滴召回 100%，最大一档掉到 86.7%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按目标在原图中的短边尺寸分箱统计 978 个标注框；失效集中在最大的一档。</a:t>
            </a:r>
          </a:p>
        </p:txBody>
      </p:sp>
      <p:pic>
        <p:nvPicPr>
          <p:cNvPr id="11" name="Picture 10" descr="fig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1" y="2029968"/>
            <a:ext cx="6708760" cy="3273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" y="5340096"/>
            <a:ext cx="6492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图：按原图短边尺寸分箱的召回率（训练集内统计，非泛化结论）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011680"/>
            <a:ext cx="4443984" cy="1609344"/>
          </a:xfrm>
          <a:prstGeom prst="rect">
            <a:avLst/>
          </a:prstGeom>
          <a:solidFill>
            <a:srgbClr val="FBEFE6"/>
          </a:solidFill>
          <a:ln w="9525">
            <a:solidFill>
              <a:srgbClr val="EE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011680"/>
            <a:ext cx="45720" cy="1609344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52944" y="2139696"/>
            <a:ext cx="3986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为什么 ≥64px 反而下降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414016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近景目标容易被画面边缘裁切，形状被拉长，
预测框与原标注框的贴合度下降；</a:t>
            </a:r>
          </a:p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这类目标数量最少（15 个框），单张图上
1 个失误就是 6.7 个百分点。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785615"/>
            <a:ext cx="4443984" cy="1335024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3785615"/>
            <a:ext cx="45720" cy="1335024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52944" y="3913632"/>
            <a:ext cx="3986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极小微滴上的表现最好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4187952"/>
            <a:ext cx="402336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短边 &lt; 8px 的 50 个框召回 100%，
8–32px 区间稳定在 98.7%–99.6%。</a:t>
            </a:r>
          </a:p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这正好是 CSEdgeGate 想要解决的那一段。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5705856"/>
            <a:ext cx="113138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统计口径风险：如两图相邻则存在同源泄漏，会抬高数字；当前仅按图像级划分，场景级隔离待补。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失效案例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四类真实失效：全部来自实际推理输出，未做挑选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绿色框为人工标注，橙色框为模型预测。这四张全部来自开发与训练数据的实际输出。</a:t>
            </a:r>
          </a:p>
        </p:txBody>
      </p:sp>
      <p:pic>
        <p:nvPicPr>
          <p:cNvPr id="11" name="Picture 10" descr="P_REVIEW_Q496_漏检FN.jpg"/>
          <p:cNvPicPr>
            <a:picLocks noChangeAspect="1"/>
          </p:cNvPicPr>
          <p:nvPr/>
        </p:nvPicPr>
        <p:blipFill>
          <a:blip r:embed="rId4"/>
          <a:srcRect t="7975" b="7975"/>
          <a:stretch>
            <a:fillRect/>
          </a:stretch>
        </p:blipFill>
        <p:spPr>
          <a:xfrm>
            <a:off x="1030071" y="2011680"/>
            <a:ext cx="2395728" cy="26883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0071" y="2011680"/>
            <a:ext cx="2395728" cy="2688336"/>
          </a:xfrm>
          <a:prstGeom prst="rect">
            <a:avLst/>
          </a:prstGeom>
          <a:noFill/>
          <a:ln w="11430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21511" y="2103120"/>
            <a:ext cx="786384" cy="219456"/>
          </a:xfrm>
          <a:prstGeom prst="roundRect">
            <a:avLst>
              <a:gd name="adj" fmla="val 28000"/>
            </a:avLst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失效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071" y="4791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尺度差异导致漏检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0071" y="5047488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同图 5 个标注只检出顶部 1 个，</a:t>
            </a:r>
          </a:p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下方 4 个更小的滴全部漏掉。</a:t>
            </a:r>
          </a:p>
        </p:txBody>
      </p:sp>
      <p:pic>
        <p:nvPicPr>
          <p:cNvPr id="16" name="Picture 15" descr="N_REVIEW_W2679_误检FP.jpg"/>
          <p:cNvPicPr>
            <a:picLocks noChangeAspect="1"/>
          </p:cNvPicPr>
          <p:nvPr/>
        </p:nvPicPr>
        <p:blipFill>
          <a:blip r:embed="rId5"/>
          <a:srcRect l="5442" r="5442"/>
          <a:stretch>
            <a:fillRect/>
          </a:stretch>
        </p:blipFill>
        <p:spPr>
          <a:xfrm>
            <a:off x="3608679" y="2011680"/>
            <a:ext cx="2395728" cy="268833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08679" y="2011680"/>
            <a:ext cx="2395728" cy="2688336"/>
          </a:xfrm>
          <a:prstGeom prst="rect">
            <a:avLst/>
          </a:prstGeom>
          <a:noFill/>
          <a:ln w="11430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00119" y="2103120"/>
            <a:ext cx="786384" cy="219456"/>
          </a:xfrm>
          <a:prstGeom prst="roundRect">
            <a:avLst>
              <a:gd name="adj" fmla="val 28000"/>
            </a:avLst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失效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8679" y="4791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金属高光引起误检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8679" y="5047488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该图没有任何标注目标，模型把</a:t>
            </a:r>
          </a:p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金属高光与表盘边缘判成微滴。</a:t>
            </a:r>
          </a:p>
        </p:txBody>
      </p:sp>
      <p:pic>
        <p:nvPicPr>
          <p:cNvPr id="21" name="Picture 20" descr="P_DROP_0481_误检FP.jpg"/>
          <p:cNvPicPr>
            <a:picLocks noChangeAspect="1"/>
          </p:cNvPicPr>
          <p:nvPr/>
        </p:nvPicPr>
        <p:blipFill>
          <a:blip r:embed="rId6"/>
          <a:srcRect l="5442" r="5442"/>
          <a:stretch>
            <a:fillRect/>
          </a:stretch>
        </p:blipFill>
        <p:spPr>
          <a:xfrm>
            <a:off x="6187287" y="2011680"/>
            <a:ext cx="2395728" cy="268833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187287" y="2011680"/>
            <a:ext cx="2395728" cy="2688336"/>
          </a:xfrm>
          <a:prstGeom prst="rect">
            <a:avLst/>
          </a:prstGeom>
          <a:noFill/>
          <a:ln w="11430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78727" y="2103120"/>
            <a:ext cx="786384" cy="219456"/>
          </a:xfrm>
          <a:prstGeom prst="roundRect">
            <a:avLst>
              <a:gd name="adj" fmla="val 28000"/>
            </a:avLst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失效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4791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一滴产生两个框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5047488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相邻位置出现小框重复检测，</a:t>
            </a:r>
          </a:p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去重 IoU 0.5 未能合并。</a:t>
            </a:r>
          </a:p>
        </p:txBody>
      </p:sp>
      <p:pic>
        <p:nvPicPr>
          <p:cNvPr id="26" name="Picture 25" descr="P_DROP_0145_误检FP.jpg"/>
          <p:cNvPicPr>
            <a:picLocks noChangeAspect="1"/>
          </p:cNvPicPr>
          <p:nvPr/>
        </p:nvPicPr>
        <p:blipFill>
          <a:blip r:embed="rId7"/>
          <a:srcRect l="5442" r="5442"/>
          <a:stretch>
            <a:fillRect/>
          </a:stretch>
        </p:blipFill>
        <p:spPr>
          <a:xfrm>
            <a:off x="8765895" y="2011680"/>
            <a:ext cx="2395728" cy="268833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765895" y="2011680"/>
            <a:ext cx="2395728" cy="2688336"/>
          </a:xfrm>
          <a:prstGeom prst="rect">
            <a:avLst/>
          </a:prstGeom>
          <a:noFill/>
          <a:ln w="11430">
            <a:solidFill>
              <a:srgbClr val="C8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57335" y="2103120"/>
            <a:ext cx="786384" cy="219456"/>
          </a:xfrm>
          <a:prstGeom prst="roundRect">
            <a:avLst>
              <a:gd name="adj" fmla="val 28000"/>
            </a:avLst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失效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5895" y="4791456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位置偏差双向计数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5895" y="5047488"/>
            <a:ext cx="2450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框偏离导致 IoU &lt; 0.5，同一目标</a:t>
            </a:r>
          </a:p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同时被计入 FP 和 FN。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742432"/>
            <a:ext cx="1131387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4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同图尺度跨度、强反光、重复框、框贴合度，这四类失效直接指向后续工作：多尺度训练、更强的高光抑制、以及更细的框回归约束。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0954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95765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95929" y="6254496"/>
            <a:ext cx="57998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四类失效均可复现：图像、标注与预测框都在交付包里。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系统演示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可运行的四视图工作台：数值全部来自本地后端，无模拟填充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图片检测、视频候选提示、事件证据、人工复核与三种格式导出，在本机端口 7862 跑通。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993392"/>
            <a:ext cx="7004304" cy="3401568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2" name="Picture 11" descr="当前UI_1_工作台_1680.png"/>
          <p:cNvPicPr>
            <a:picLocks noChangeAspect="1"/>
          </p:cNvPicPr>
          <p:nvPr/>
        </p:nvPicPr>
        <p:blipFill>
          <a:blip r:embed="rId4"/>
          <a:srcRect t="9206" b="9206"/>
          <a:stretch>
            <a:fillRect/>
          </a:stretch>
        </p:blipFill>
        <p:spPr>
          <a:xfrm>
            <a:off x="438912" y="1993392"/>
            <a:ext cx="7004304" cy="3401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" y="5413248"/>
            <a:ext cx="700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① 智能检测工作台：检测结果、模型配置与耗时均来自后端实测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44383" y="1993392"/>
            <a:ext cx="4114800" cy="1755648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5" name="Picture 14" descr="当前UI_2_事件复核_1680.png"/>
          <p:cNvPicPr>
            <a:picLocks noChangeAspect="1"/>
          </p:cNvPicPr>
          <p:nvPr/>
        </p:nvPicPr>
        <p:blipFill>
          <a:blip r:embed="rId5"/>
          <a:srcRect t="14160" b="14160"/>
          <a:stretch>
            <a:fillRect/>
          </a:stretch>
        </p:blipFill>
        <p:spPr>
          <a:xfrm>
            <a:off x="7644383" y="1993392"/>
            <a:ext cx="4114800" cy="1755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4383" y="3803904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② 事件与人工复核：候选、证据、表单三栏联动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44383" y="4133087"/>
            <a:ext cx="1975104" cy="1170432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18" name="Picture 17" descr="当前UI_3_任务记录_1680.png"/>
          <p:cNvPicPr>
            <a:picLocks noChangeAspect="1"/>
          </p:cNvPicPr>
          <p:nvPr/>
        </p:nvPicPr>
        <p:blipFill>
          <a:blip r:embed="rId6"/>
          <a:srcRect t="222" b="222"/>
          <a:stretch>
            <a:fillRect/>
          </a:stretch>
        </p:blipFill>
        <p:spPr>
          <a:xfrm>
            <a:off x="7644383" y="4133087"/>
            <a:ext cx="1975104" cy="11704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784080" y="4133087"/>
            <a:ext cx="1975104" cy="1170432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20" name="Picture 19" descr="当前UI_4_模型说明_1680.png"/>
          <p:cNvPicPr>
            <a:picLocks noChangeAspect="1"/>
          </p:cNvPicPr>
          <p:nvPr/>
        </p:nvPicPr>
        <p:blipFill>
          <a:blip r:embed="rId7"/>
          <a:srcRect t="222" b="222"/>
          <a:stretch>
            <a:fillRect/>
          </a:stretch>
        </p:blipFill>
        <p:spPr>
          <a:xfrm>
            <a:off x="9784080" y="4133087"/>
            <a:ext cx="1975104" cy="11704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44383" y="535838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③ 任务与记录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5358384"/>
            <a:ext cx="19751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④ 模型与实验说明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5632704"/>
            <a:ext cx="11313871" cy="365760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" y="5632704"/>
            <a:ext cx="45720" cy="365760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68756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▶  演示视频（45–55 s 一镜到底）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696712"/>
            <a:ext cx="7360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CBDD6"/>
                </a:solidFill>
                <a:latin typeface="Noto Sans SC"/>
                <a:ea typeface="Noto Sans SC"/>
                <a:cs typeface="Noto Sans SC"/>
              </a:rPr>
              <a:t>预留嵌入位：上传 → 推理 → 事件生成 → 切换局部复核 → 导出 CSV / JSON / 报表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86583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18727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372967" y="6254496"/>
            <a:ext cx="5445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界面数值取自 /api 实时返回，空态不填模拟数据。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工程验证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算法之外：95 项工程检查零失败，5 个缺陷定位并修复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这些检查只证明“系统可运行、可追溯、可复现”，不证明检测精度，也不证明机器人实机可靠性。</a:t>
            </a:r>
          </a:p>
        </p:txBody>
      </p:sp>
      <p:pic>
        <p:nvPicPr>
          <p:cNvPr id="11" name="Picture 10" descr="fig6_工程验证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082392"/>
            <a:ext cx="6492240" cy="26200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776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图：工程验证结果（2026-10-19，本机 CPU 环境）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5084064"/>
            <a:ext cx="2066543" cy="1005840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" y="5084064"/>
            <a:ext cx="41148" cy="1005840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5212079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102F5E"/>
                </a:solidFill>
                <a:latin typeface="Consolas"/>
                <a:ea typeface="Consolas"/>
                <a:cs typeface="Consolas"/>
              </a:rPr>
              <a:t>95</a:t>
            </a:r>
            <a:r>
              <a:rPr sz="95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  检查通过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62929"/>
            <a:ext cx="16824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42 单测 + 37 验收 + 16 稳定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5084064"/>
            <a:ext cx="2066543" cy="1005840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5084064"/>
            <a:ext cx="41148" cy="1005840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5" y="5212079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18A6A2"/>
                </a:solidFill>
                <a:latin typeface="Consolas"/>
                <a:ea typeface="Consolas"/>
                <a:cs typeface="Consolas"/>
              </a:rPr>
              <a:t>2574</a:t>
            </a:r>
            <a:r>
              <a:rPr sz="95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  哈希校验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5" y="5662929"/>
            <a:ext cx="16824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SHA-256 逐文件比对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8" y="5084064"/>
            <a:ext cx="2066543" cy="1005840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64608" y="5084064"/>
            <a:ext cx="41148" cy="1005840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84064" y="5212079"/>
            <a:ext cx="17007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 i="0">
                <a:solidFill>
                  <a:srgbClr val="D97A32"/>
                </a:solidFill>
                <a:latin typeface="Consolas"/>
                <a:ea typeface="Consolas"/>
                <a:cs typeface="Consolas"/>
              </a:rPr>
              <a:t>16</a:t>
            </a:r>
            <a:r>
              <a:rPr sz="95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  接口耗时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5662929"/>
            <a:ext cx="16824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60" b="0" i="0">
                <a:solidFill>
                  <a:srgbClr val="7C8E9B"/>
                </a:solidFill>
                <a:latin typeface="Noto Sans SC"/>
                <a:ea typeface="Noto Sans SC"/>
                <a:cs typeface="Noto Sans SC"/>
              </a:rPr>
              <a:t>优化前 p50 为 455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04825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验证中发现并修复的 5 个缺陷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68896" y="2395728"/>
            <a:ext cx="45720" cy="676656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51775" y="239572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线程泄漏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2615184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每任务新建线程，实测 +7 个系统线程/任务；改持久单工作线程后 20 任务零增长。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68896" y="3182112"/>
            <a:ext cx="45720" cy="676656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51775" y="31821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依赖缺失仍开放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5" y="3401568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轻量包缺区域时序模块，界面照旧给选项；改能力探测，缺失时明确提示。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8896" y="3968496"/>
            <a:ext cx="45720" cy="676656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51775" y="3968496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端口重复启动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1775" y="4187952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第二个实例可绑同一端口互抢任务；改禁止端口复用，占用即退出。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68896" y="4754880"/>
            <a:ext cx="45720" cy="676656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51775" y="4754880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加载期无法停止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1775" y="4974336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点停止被状态覆盖；改为保持“已停止”终态。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68896" y="5541264"/>
            <a:ext cx="45720" cy="676656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51775" y="5541264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 i="0">
                <a:solidFill>
                  <a:srgbClr val="24425C"/>
                </a:solidFill>
                <a:latin typeface="Noto Sans SC"/>
                <a:ea typeface="Noto Sans SC"/>
                <a:cs typeface="Noto Sans SC"/>
              </a:rPr>
              <a:t>记录接口变慢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1775" y="5760720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每次重读全部任务 JSON，p50 455 ms；改缓存与快照后 16 ms。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111603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293707" y="6373368"/>
            <a:ext cx="786384" cy="0"/>
          </a:xfrm>
          <a:prstGeom prst="line">
            <a:avLst/>
          </a:prstGeom>
          <a:ln w="12700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97987" y="6254496"/>
            <a:ext cx="639571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20 个连续任务后系统线程 34 与 34，RSS 稳定在 305 MB。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743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28346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" y="2651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结语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84832" y="416052"/>
            <a:ext cx="7839151" cy="0"/>
          </a:xfrm>
          <a:prstGeom prst="line">
            <a:avLst/>
          </a:prstGeom>
          <a:ln w="9525">
            <a:solidFill>
              <a:srgbClr val="DD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149840" y="219456"/>
            <a:ext cx="1554480" cy="557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2" y="246888"/>
            <a:ext cx="1408176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96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AABB5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804672"/>
            <a:ext cx="11109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 dirty="0" err="1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三件事：一处结构改动、一套复核流程、一条可核对的证据链</a:t>
            </a:r>
            <a:endParaRPr sz="2800" b="1" i="0" dirty="0">
              <a:solidFill>
                <a:srgbClr val="102F5E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09728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7516F"/>
                </a:solidFill>
                <a:latin typeface="Noto Serif SC"/>
                <a:ea typeface="Noto Serif SC"/>
                <a:cs typeface="Noto Serif SC"/>
              </a:rPr>
              <a:t>模型权重、数据卡、技术报告、可运行工作台与验证脚本都在交付包里，可以逐项复核。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103120"/>
            <a:ext cx="3639312" cy="2688336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2103120"/>
            <a:ext cx="3639312" cy="50292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8A6A2"/>
                </a:solidFill>
                <a:latin typeface="Noto Sans SC"/>
                <a:ea typeface="Noto Sans SC"/>
                <a:cs typeface="Noto Sans SC"/>
              </a:rPr>
              <a:t>01 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32186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CSEdgeGate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926080"/>
            <a:ext cx="3200400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76656" y="3127248"/>
            <a:ext cx="64008" cy="64008"/>
          </a:xfrm>
          <a:prstGeom prst="ellipse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035808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固定 Sobel 边缘 + 轻量纹理 + P4 跨尺度门控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675887"/>
            <a:ext cx="64008" cy="64008"/>
          </a:xfrm>
          <a:prstGeom prst="ellipse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584448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只改 P3 一处，参数 +11,682（+0.39%）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" y="4224527"/>
            <a:ext cx="64008" cy="64008"/>
          </a:xfrm>
          <a:prstGeom prst="ellipse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133087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开发集召回 55.6% → 61.1%，960 档最高 83.3%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103120"/>
            <a:ext cx="3639312" cy="2688336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60" y="2103120"/>
            <a:ext cx="3639312" cy="50292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71416" y="226771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02F5E"/>
                </a:solidFill>
                <a:latin typeface="Noto Sans SC"/>
                <a:ea typeface="Noto Sans SC"/>
                <a:cs typeface="Noto Sans SC"/>
              </a:rPr>
              <a:t>02 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2505456"/>
            <a:ext cx="32186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检测到复核的链条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71416" y="2926080"/>
            <a:ext cx="3200400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489704" y="3127248"/>
            <a:ext cx="64008" cy="64008"/>
          </a:xfrm>
          <a:prstGeom prst="ellipse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54296" y="3035808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候选检测 → 事件入库 → 人工复核 → 三种格式导出</a:t>
            </a:r>
          </a:p>
        </p:txBody>
      </p:sp>
      <p:sp>
        <p:nvSpPr>
          <p:cNvPr id="29" name="Oval 28"/>
          <p:cNvSpPr/>
          <p:nvPr/>
        </p:nvSpPr>
        <p:spPr>
          <a:xfrm>
            <a:off x="4489704" y="3675887"/>
            <a:ext cx="64008" cy="64008"/>
          </a:xfrm>
          <a:prstGeom prst="ellipse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54296" y="3584448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四视图工作台本机跑通，端口 7862</a:t>
            </a:r>
          </a:p>
        </p:txBody>
      </p:sp>
      <p:sp>
        <p:nvSpPr>
          <p:cNvPr id="31" name="Oval 30"/>
          <p:cNvSpPr/>
          <p:nvPr/>
        </p:nvSpPr>
        <p:spPr>
          <a:xfrm>
            <a:off x="4489704" y="4224527"/>
            <a:ext cx="64008" cy="64008"/>
          </a:xfrm>
          <a:prstGeom prst="ellipse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54296" y="4133087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42 单测 + 37 验收 + 16 稳定，零失败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65008" y="2103120"/>
            <a:ext cx="3639312" cy="2688336"/>
          </a:xfrm>
          <a:prstGeom prst="rect">
            <a:avLst/>
          </a:prstGeom>
          <a:solidFill>
            <a:srgbClr val="F5FAFB"/>
          </a:solidFill>
          <a:ln w="9525">
            <a:solidFill>
              <a:srgbClr val="DD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65008" y="2103120"/>
            <a:ext cx="3639312" cy="50292"/>
          </a:xfrm>
          <a:prstGeom prst="rect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226771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97A32"/>
                </a:solidFill>
                <a:latin typeface="Noto Sans SC"/>
                <a:ea typeface="Noto Sans SC"/>
                <a:cs typeface="Noto Sans SC"/>
              </a:rPr>
              <a:t>03 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2505456"/>
            <a:ext cx="32186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 dirty="0" err="1">
                <a:solidFill>
                  <a:srgbClr val="102F5E"/>
                </a:solidFill>
                <a:latin typeface="Noto Serif SC"/>
                <a:ea typeface="Noto Serif SC"/>
                <a:cs typeface="Noto Serif SC"/>
              </a:rPr>
              <a:t>口径先行的材料</a:t>
            </a:r>
            <a:endParaRPr sz="1650" b="1" i="0" dirty="0">
              <a:solidFill>
                <a:srgbClr val="102F5E"/>
              </a:solidFill>
              <a:latin typeface="Noto Serif SC"/>
              <a:ea typeface="Noto Serif SC"/>
              <a:cs typeface="Noto Serif SC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284464" y="2926080"/>
            <a:ext cx="3200400" cy="0"/>
          </a:xfrm>
          <a:prstGeom prst="line">
            <a:avLst/>
          </a:prstGeom>
          <a:ln w="9525">
            <a:solidFill>
              <a:srgbClr val="C8D6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302752" y="3127248"/>
            <a:ext cx="64008" cy="64008"/>
          </a:xfrm>
          <a:prstGeom prst="ellipse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67344" y="3035808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A2/A3 差异不显著，写进报告</a:t>
            </a:r>
          </a:p>
        </p:txBody>
      </p:sp>
      <p:sp>
        <p:nvSpPr>
          <p:cNvPr id="40" name="Oval 39"/>
          <p:cNvSpPr/>
          <p:nvPr/>
        </p:nvSpPr>
        <p:spPr>
          <a:xfrm>
            <a:off x="8302752" y="3675887"/>
            <a:ext cx="64008" cy="64008"/>
          </a:xfrm>
          <a:prstGeom prst="ellipse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67344" y="3584448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旧划分 76.9% 重合，该组指标不引用</a:t>
            </a:r>
          </a:p>
        </p:txBody>
      </p:sp>
      <p:sp>
        <p:nvSpPr>
          <p:cNvPr id="42" name="Oval 41"/>
          <p:cNvSpPr/>
          <p:nvPr/>
        </p:nvSpPr>
        <p:spPr>
          <a:xfrm>
            <a:off x="8302752" y="4224527"/>
            <a:ext cx="64008" cy="64008"/>
          </a:xfrm>
          <a:prstGeom prst="ellipse">
            <a:avLst/>
          </a:prstGeom>
          <a:solidFill>
            <a:srgbClr val="D97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67344" y="4133087"/>
            <a:ext cx="3017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06879"/>
                </a:solidFill>
                <a:latin typeface="Noto Sans SC"/>
                <a:ea typeface="Noto Sans SC"/>
                <a:cs typeface="Noto Sans SC"/>
              </a:rPr>
              <a:t>四类失效案例附图像与坐标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5098470"/>
            <a:ext cx="11313871" cy="172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交付包：模型权重</a:t>
            </a:r>
            <a:r>
              <a:rPr sz="112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best.pt · 1054 </a:t>
            </a:r>
            <a:r>
              <a:rPr sz="112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图数据卡</a:t>
            </a:r>
            <a:r>
              <a:rPr sz="112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· 8 </a:t>
            </a:r>
            <a:r>
              <a:rPr sz="112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章技术报告</a:t>
            </a:r>
            <a:r>
              <a:rPr sz="112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· </a:t>
            </a:r>
            <a:r>
              <a:rPr sz="112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四视图工作台</a:t>
            </a:r>
            <a:r>
              <a:rPr sz="1120" b="1" i="0" dirty="0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 · </a:t>
            </a:r>
            <a:r>
              <a:rPr sz="1120" b="1" i="0" dirty="0" err="1">
                <a:solidFill>
                  <a:srgbClr val="37516F"/>
                </a:solidFill>
                <a:latin typeface="Noto Sans SC"/>
                <a:ea typeface="Noto Sans SC"/>
                <a:cs typeface="Noto Sans SC"/>
              </a:rPr>
              <a:t>全部验证脚本</a:t>
            </a:r>
            <a:endParaRPr sz="1120" b="1" i="0" dirty="0">
              <a:solidFill>
                <a:srgbClr val="37516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0" y="5614416"/>
            <a:ext cx="12191695" cy="731520"/>
          </a:xfrm>
          <a:prstGeom prst="rect">
            <a:avLst/>
          </a:prstGeom>
          <a:solidFill>
            <a:srgbClr val="10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0" y="5614416"/>
            <a:ext cx="64008" cy="731520"/>
          </a:xfrm>
          <a:prstGeom prst="rect">
            <a:avLst/>
          </a:prstGeom>
          <a:solidFill>
            <a:srgbClr val="18A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" y="5724144"/>
            <a:ext cx="6675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让机舱巡检多一双“可复核的眼睛”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742432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 dirty="0" err="1">
                <a:solidFill>
                  <a:srgbClr val="8FD4D2"/>
                </a:solidFill>
                <a:latin typeface="Noto Serif SC"/>
                <a:ea typeface="Noto Serif SC"/>
                <a:cs typeface="Noto Serif SC"/>
              </a:rPr>
              <a:t>谢谢</a:t>
            </a:r>
            <a:r>
              <a:rPr sz="1300" b="1" i="0" dirty="0">
                <a:solidFill>
                  <a:srgbClr val="8FD4D2"/>
                </a:solidFill>
                <a:latin typeface="Noto Serif SC"/>
                <a:ea typeface="Noto Serif SC"/>
                <a:cs typeface="Noto Serif SC"/>
              </a:rPr>
              <a:t> · </a:t>
            </a:r>
            <a:r>
              <a:rPr sz="1300" b="1" i="0" dirty="0" err="1">
                <a:solidFill>
                  <a:srgbClr val="8FD4D2"/>
                </a:solidFill>
                <a:latin typeface="Noto Serif SC"/>
                <a:ea typeface="Noto Serif SC"/>
                <a:cs typeface="Noto Serif SC"/>
              </a:rPr>
              <a:t>欢迎提问</a:t>
            </a:r>
            <a:endParaRPr sz="1300" b="1" i="0" dirty="0">
              <a:solidFill>
                <a:srgbClr val="8FD4D2"/>
              </a:solidFill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2150</Words>
  <Application>Microsoft Office PowerPoint</Application>
  <PresentationFormat>宽屏</PresentationFormat>
  <Paragraphs>456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Noto Sans SC</vt:lpstr>
      <vt:lpstr>Noto Serif SC</vt:lpstr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jiale zhang</dc:creator>
  <cp:lastModifiedBy>jiale zhang</cp:lastModifiedBy>
  <cp:revision>1</cp:revision>
  <dcterms:created xsi:type="dcterms:W3CDTF">2026-10-20T12:15:34Z</dcterms:created>
  <dcterms:modified xsi:type="dcterms:W3CDTF">2026-10-20T12:16:26Z</dcterms:modified>
</cp:coreProperties>
</file>