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38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_MASTER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8890">
            <a:solidFill>
              <a:srgbClr val="D5E1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巡检者_ppt_assets/image1.jpg"/>
          <p:cNvPicPr>
            <a:picLocks noChangeAspect="1"/>
          </p:cNvPicPr>
          <p:nvPr/>
        </p:nvPicPr>
        <p:blipFill>
          <a:blip r:embed="rId3"/>
          <a:srcRect l="14187" r="14187"/>
          <a:stretch/>
        </p:blipFill>
        <p:spPr>
          <a:xfrm>
            <a:off x="5596128" y="713232"/>
            <a:ext cx="6601968" cy="6144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04688" y="0"/>
            <a:ext cx="6693408" cy="896112"/>
          </a:xfrm>
          <a:prstGeom prst="rect">
            <a:avLst/>
          </a:prstGeom>
          <a:solidFill>
            <a:srgbClr val="FCFDFE"/>
          </a:solidFill>
          <a:ln w="12700">
            <a:solidFill>
              <a:srgbClr val="FCFDF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481328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巡检者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39496" y="2907792"/>
            <a:ext cx="5230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面向轮机巡检的可复核视觉原型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576072" y="3803904"/>
            <a:ext cx="640080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2728" y="3822192"/>
            <a:ext cx="3383280" cy="0"/>
          </a:xfrm>
          <a:prstGeom prst="line">
            <a:avLst/>
          </a:prstGeom>
          <a:noFill/>
          <a:ln w="10160">
            <a:solidFill>
              <a:srgbClr val="DA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赛道：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572768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AI+学科交叉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76072" y="49194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指导老师：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572768" y="4919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梁兴鑫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76072" y="5358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项目成员：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572768" y="5358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刘欣沅、张加乐、乔一鸣</a:t>
            </a:r>
            <a:endParaRPr lang="en-US" sz="1650" dirty="0"/>
          </a:p>
        </p:txBody>
      </p:sp>
      <p:pic>
        <p:nvPicPr>
          <p:cNvPr id="16" name="Image 1" descr="/mnt/data/aic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问题定义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机舱巡检需要定位线索，更需要知道模型边界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液体泄漏形态复杂，视觉辅助的价值不只在“发现”，更在于提供可复核的位置线索。</a:t>
            </a:r>
            <a:endParaRPr lang="en-US" sz="1820" dirty="0"/>
          </a:p>
        </p:txBody>
      </p:sp>
      <p:pic>
        <p:nvPicPr>
          <p:cNvPr id="9" name="Image 1" descr="/mnt/data/巡检者_ppt_assets/image6.jpg"/>
          <p:cNvPicPr>
            <a:picLocks noChangeAspect="1"/>
          </p:cNvPicPr>
          <p:nvPr/>
        </p:nvPicPr>
        <p:blipFill>
          <a:blip r:embed="rId4"/>
          <a:srcRect t="4461" b="4461"/>
          <a:stretch/>
        </p:blipFill>
        <p:spPr>
          <a:xfrm>
            <a:off x="438912" y="2139696"/>
            <a:ext cx="3593592" cy="2542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8912" y="4901184"/>
            <a:ext cx="32004" cy="256032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" y="48554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喷射、细滴、积水、油污外观差异大</a:t>
            </a:r>
            <a:endParaRPr lang="en-US" sz="1720" dirty="0"/>
          </a:p>
        </p:txBody>
      </p:sp>
      <p:sp>
        <p:nvSpPr>
          <p:cNvPr id="12" name="Text 8"/>
          <p:cNvSpPr/>
          <p:nvPr/>
        </p:nvSpPr>
        <p:spPr>
          <a:xfrm>
            <a:off x="585216" y="52852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液体泄漏可能表现为高压喷射、细小雾滴、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地面积水或油污污染等多种形态，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具有明显的外观差异。</a:t>
            </a:r>
            <a:endParaRPr lang="en-US" sz="1250" dirty="0"/>
          </a:p>
        </p:txBody>
      </p:sp>
      <p:pic>
        <p:nvPicPr>
          <p:cNvPr id="13" name="Image 2" descr="/mnt/data/巡检者_ppt_assets/image1.jpg"/>
          <p:cNvPicPr>
            <a:picLocks noChangeAspect="1"/>
          </p:cNvPicPr>
          <p:nvPr/>
        </p:nvPicPr>
        <p:blipFill>
          <a:blip r:embed="rId5"/>
          <a:srcRect l="2878" r="2878"/>
          <a:stretch/>
        </p:blipFill>
        <p:spPr>
          <a:xfrm>
            <a:off x="4297680" y="2139696"/>
            <a:ext cx="3593592" cy="2542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97680" y="4901184"/>
            <a:ext cx="32004" cy="256032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443984" y="48554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管路密集、金属反光容易误报</a:t>
            </a:r>
            <a:endParaRPr lang="en-US" sz="1720" dirty="0"/>
          </a:p>
        </p:txBody>
      </p:sp>
      <p:sp>
        <p:nvSpPr>
          <p:cNvPr id="16" name="Text 11"/>
          <p:cNvSpPr/>
          <p:nvPr/>
        </p:nvSpPr>
        <p:spPr>
          <a:xfrm>
            <a:off x="4443984" y="52852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机舱内存在大量管路、阀门和金属构件，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且金属表面容易产生强反光、亮斑或水迹，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可能对视觉模型造成干扰，增加误报风险。</a:t>
            </a:r>
            <a:endParaRPr lang="en-US" sz="1250" dirty="0"/>
          </a:p>
        </p:txBody>
      </p:sp>
      <p:pic>
        <p:nvPicPr>
          <p:cNvPr id="17" name="Image 3" descr="/mnt/data/巡检者_ppt_assets/image5.jpg"/>
          <p:cNvPicPr>
            <a:picLocks noChangeAspect="1"/>
          </p:cNvPicPr>
          <p:nvPr/>
        </p:nvPicPr>
        <p:blipFill>
          <a:blip r:embed="rId6"/>
          <a:srcRect t="2841" b="2841"/>
          <a:stretch/>
        </p:blipFill>
        <p:spPr>
          <a:xfrm>
            <a:off x="8156448" y="2139696"/>
            <a:ext cx="3593592" cy="2542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56448" y="4901184"/>
            <a:ext cx="32004" cy="256032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302752" y="485546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真实机舱正样本少，漏检难以量化</a:t>
            </a:r>
            <a:endParaRPr lang="en-US" sz="1720" dirty="0"/>
          </a:p>
        </p:txBody>
      </p:sp>
      <p:sp>
        <p:nvSpPr>
          <p:cNvPr id="20" name="Text 14"/>
          <p:cNvSpPr/>
          <p:nvPr/>
        </p:nvSpPr>
        <p:spPr>
          <a:xfrm>
            <a:off x="8302752" y="52852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真实机舱中的泄漏正样本数据较为稀缺，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不同场景、不同泄漏形态的覆盖有限，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导致模型的漏检情况难以充分量化和评估。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2724912" y="6300216"/>
            <a:ext cx="640080" cy="0"/>
          </a:xfrm>
          <a:prstGeom prst="line">
            <a:avLst/>
          </a:prstGeom>
          <a:noFill/>
          <a:ln w="19050">
            <a:solidFill>
              <a:srgbClr val="18A6A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456432" y="619048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不是“看到水”就等于“确认机舱泄漏”。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8851392" y="6300216"/>
            <a:ext cx="640080" cy="0"/>
          </a:xfrm>
          <a:prstGeom prst="line">
            <a:avLst/>
          </a:prstGeom>
          <a:noFill/>
          <a:ln w="19050">
            <a:solidFill>
              <a:srgbClr val="18A6A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项目定位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从“自动判断”转向“辅助筛查”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系统输出疑似区域与模型结果，最终判断仍由巡检人员完成，不作为独立报警系统。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38912" y="2423160"/>
            <a:ext cx="420624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26700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定位：可复核视觉辅助筛查原型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38912" y="305409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系统输出疑似液体区域及相关模型结果，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帮助巡检人员在大量图像中快速聚焦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可能存在泄漏的目标。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" y="4169664"/>
            <a:ext cx="420624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4165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不作为独立机舱报警系统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8912" y="4818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系统仅提供视觉上的辅助筛查结果，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最终是否存在泄漏仍需由巡检人员结合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现场环境与设备状态进行综合判断。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68496" y="243230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41648" y="2478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407408" y="243230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现场图片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6080760" y="243230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2478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19672" y="243230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模型识别疑似液体区域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8202168" y="243230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2478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641080" y="24323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 mask / bbox / score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10222992" y="243230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96144" y="24780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661904" y="2432304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人工结合现场语义复核</a:t>
            </a:r>
            <a:endParaRPr lang="en-US" sz="1230" dirty="0"/>
          </a:p>
        </p:txBody>
      </p:sp>
      <p:pic>
        <p:nvPicPr>
          <p:cNvPr id="27" name="Image 1" descr="/mnt/data/slide3_input_crop.png"/>
          <p:cNvPicPr>
            <a:picLocks noChangeAspect="1"/>
          </p:cNvPicPr>
          <p:nvPr/>
        </p:nvPicPr>
        <p:blipFill>
          <a:blip r:embed="rId4"/>
          <a:srcRect l="3431" r="3431"/>
          <a:stretch/>
        </p:blipFill>
        <p:spPr>
          <a:xfrm>
            <a:off x="3968496" y="2761488"/>
            <a:ext cx="1737360" cy="2487168"/>
          </a:xfrm>
          <a:prstGeom prst="rect">
            <a:avLst/>
          </a:prstGeom>
        </p:spPr>
      </p:pic>
      <p:pic>
        <p:nvPicPr>
          <p:cNvPr id="28" name="Image 2" descr="/mnt/data/巡检者_ppt_assets/image6.jpg"/>
          <p:cNvPicPr>
            <a:picLocks noChangeAspect="1"/>
          </p:cNvPicPr>
          <p:nvPr/>
        </p:nvPicPr>
        <p:blipFill>
          <a:blip r:embed="rId5"/>
          <a:srcRect l="22874" r="22874"/>
          <a:stretch/>
        </p:blipFill>
        <p:spPr>
          <a:xfrm>
            <a:off x="6080760" y="2761488"/>
            <a:ext cx="1737360" cy="248716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8193024" y="2761488"/>
            <a:ext cx="1627632" cy="2487168"/>
          </a:xfrm>
          <a:prstGeom prst="roundRect">
            <a:avLst>
              <a:gd name="adj" fmla="val 2809"/>
            </a:avLst>
          </a:prstGeom>
          <a:solidFill>
            <a:srgbClr val="F7FAFB"/>
          </a:solidFill>
          <a:ln w="7620">
            <a:solidFill>
              <a:srgbClr val="E0E8EC"/>
            </a:solidFill>
            <a:prstDash val="solid"/>
          </a:ln>
        </p:spPr>
      </p:sp>
      <p:pic>
        <p:nvPicPr>
          <p:cNvPr id="30" name="Image 3" descr="/mnt/data/巡检者_ppt_assets/image6.jpg"/>
          <p:cNvPicPr>
            <a:picLocks noChangeAspect="1"/>
          </p:cNvPicPr>
          <p:nvPr/>
        </p:nvPicPr>
        <p:blipFill>
          <a:blip r:embed="rId5"/>
          <a:srcRect l="22120" r="22120"/>
          <a:stretch/>
        </p:blipFill>
        <p:spPr>
          <a:xfrm>
            <a:off x="8503920" y="2852928"/>
            <a:ext cx="1024128" cy="1426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375904" y="4425696"/>
            <a:ext cx="129844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651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bbox: [x1, y1, x2, y2]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651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mask: (H, W)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651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0.45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651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leak</a:t>
            </a:r>
            <a:endParaRPr lang="en-US" sz="920" dirty="0"/>
          </a:p>
        </p:txBody>
      </p:sp>
      <p:pic>
        <p:nvPicPr>
          <p:cNvPr id="32" name="Image 4" descr="/mnt/data/slide3_inspector_crop.png"/>
          <p:cNvPicPr>
            <a:picLocks noChangeAspect="1"/>
          </p:cNvPicPr>
          <p:nvPr/>
        </p:nvPicPr>
        <p:blipFill>
          <a:blip r:embed="rId6"/>
          <a:srcRect l="7163" r="7163"/>
          <a:stretch/>
        </p:blipFill>
        <p:spPr>
          <a:xfrm>
            <a:off x="10222992" y="2761488"/>
            <a:ext cx="1572768" cy="2487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742432" y="373075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34" name="Text 27"/>
          <p:cNvSpPr/>
          <p:nvPr/>
        </p:nvSpPr>
        <p:spPr>
          <a:xfrm>
            <a:off x="7854696" y="373075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35" name="Text 28"/>
          <p:cNvSpPr/>
          <p:nvPr/>
        </p:nvSpPr>
        <p:spPr>
          <a:xfrm>
            <a:off x="9893808" y="373075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36" name="Shape 29"/>
          <p:cNvSpPr/>
          <p:nvPr/>
        </p:nvSpPr>
        <p:spPr>
          <a:xfrm>
            <a:off x="0" y="6007608"/>
            <a:ext cx="12191695" cy="484632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017520" y="6254496"/>
            <a:ext cx="685800" cy="0"/>
          </a:xfrm>
          <a:prstGeom prst="line">
            <a:avLst/>
          </a:prstGeom>
          <a:noFill/>
          <a:ln w="13970">
            <a:solidFill>
              <a:srgbClr val="18A6A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831336" y="60899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模型负责给线索，人员负责做判断。</a:t>
            </a:r>
            <a:endParaRPr lang="en-US" sz="1730" dirty="0"/>
          </a:p>
        </p:txBody>
      </p:sp>
      <p:sp>
        <p:nvSpPr>
          <p:cNvPr id="39" name="Shape 32"/>
          <p:cNvSpPr/>
          <p:nvPr/>
        </p:nvSpPr>
        <p:spPr>
          <a:xfrm>
            <a:off x="8458200" y="6254496"/>
            <a:ext cx="685800" cy="0"/>
          </a:xfrm>
          <a:prstGeom prst="line">
            <a:avLst/>
          </a:prstGeom>
          <a:noFill/>
          <a:ln w="13970">
            <a:solidFill>
              <a:srgbClr val="18A6A2"/>
            </a:solidFill>
            <a:prstDash val="solid"/>
          </a:ln>
        </p:spPr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技术路线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构建一条可复现、可审查的视觉检测流程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从公开数据、场景隔离、分割训练，到域外误报审计与人工复核，形成完整实验链。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347472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731520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公开数据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9184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13" name="Image 1" descr="/mnt/data/巡检者_ppt_assets/image6.jpg"/>
          <p:cNvPicPr>
            <a:picLocks noChangeAspect="1"/>
          </p:cNvPicPr>
          <p:nvPr/>
        </p:nvPicPr>
        <p:blipFill>
          <a:blip r:embed="rId4"/>
          <a:srcRect l="10916" r="10916"/>
          <a:stretch/>
        </p:blipFill>
        <p:spPr>
          <a:xfrm>
            <a:off x="402336" y="2849497"/>
            <a:ext cx="1426464" cy="1417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收集公开的液体泄漏图像，构建基础数据集。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892808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2"/>
          <p:cNvSpPr/>
          <p:nvPr/>
        </p:nvSpPr>
        <p:spPr>
          <a:xfrm>
            <a:off x="2048256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112264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40" dirty="0"/>
          </a:p>
        </p:txBody>
      </p:sp>
      <p:sp>
        <p:nvSpPr>
          <p:cNvPr id="18" name="Text 14"/>
          <p:cNvSpPr/>
          <p:nvPr/>
        </p:nvSpPr>
        <p:spPr>
          <a:xfrm>
            <a:off x="2432304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pHash 场景聚类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029968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20" name="Image 2" descr="/mnt/data/巡检者_ppt_assets/image8.png"/>
          <p:cNvPicPr>
            <a:picLocks noChangeAspect="1"/>
          </p:cNvPicPr>
          <p:nvPr/>
        </p:nvPicPr>
        <p:blipFill>
          <a:blip r:embed="rId5"/>
          <a:srcRect t="544" b="544"/>
          <a:stretch/>
        </p:blipFill>
        <p:spPr>
          <a:xfrm>
            <a:off x="2103120" y="2849497"/>
            <a:ext cx="1426464" cy="1417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03120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基于 pHash 进行场景相似性聚类，划分不同场景域。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593592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Shape 18"/>
          <p:cNvSpPr/>
          <p:nvPr/>
        </p:nvSpPr>
        <p:spPr>
          <a:xfrm>
            <a:off x="3749040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13048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40" dirty="0"/>
          </a:p>
        </p:txBody>
      </p:sp>
      <p:sp>
        <p:nvSpPr>
          <p:cNvPr id="25" name="Text 20"/>
          <p:cNvSpPr/>
          <p:nvPr/>
        </p:nvSpPr>
        <p:spPr>
          <a:xfrm>
            <a:off x="4133088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场景隔离切分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3730752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27" name="Image 3" descr="/mnt/data/巡检者_ppt_assets/image1.jpg"/>
          <p:cNvPicPr>
            <a:picLocks noChangeAspect="1"/>
          </p:cNvPicPr>
          <p:nvPr/>
        </p:nvPicPr>
        <p:blipFill>
          <a:blip r:embed="rId6"/>
          <a:srcRect l="16452" r="16452"/>
          <a:stretch/>
        </p:blipFill>
        <p:spPr>
          <a:xfrm>
            <a:off x="3803904" y="2849497"/>
            <a:ext cx="1426464" cy="1417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03904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按照场景域进行隔离切分，避免场景泄漏。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294376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30" name="Shape 24"/>
          <p:cNvSpPr/>
          <p:nvPr/>
        </p:nvSpPr>
        <p:spPr>
          <a:xfrm>
            <a:off x="5449824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513832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40" dirty="0"/>
          </a:p>
        </p:txBody>
      </p:sp>
      <p:sp>
        <p:nvSpPr>
          <p:cNvPr id="32" name="Text 26"/>
          <p:cNvSpPr/>
          <p:nvPr/>
        </p:nvSpPr>
        <p:spPr>
          <a:xfrm>
            <a:off x="5833872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YOLO11n-seg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5431536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34" name="Image 4" descr="/mnt/data/巡检者_ppt_assets/image6.jpg"/>
          <p:cNvPicPr>
            <a:picLocks noChangeAspect="1"/>
          </p:cNvPicPr>
          <p:nvPr/>
        </p:nvPicPr>
        <p:blipFill>
          <a:blip r:embed="rId4"/>
          <a:srcRect l="10916" r="10916"/>
          <a:stretch/>
        </p:blipFill>
        <p:spPr>
          <a:xfrm>
            <a:off x="5504688" y="2849497"/>
            <a:ext cx="1426464" cy="1417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04688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进行实例分割训练，输出 mask / bbox / score。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995160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37" name="Shape 30"/>
          <p:cNvSpPr/>
          <p:nvPr/>
        </p:nvSpPr>
        <p:spPr>
          <a:xfrm>
            <a:off x="7150608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214616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40" dirty="0"/>
          </a:p>
        </p:txBody>
      </p:sp>
      <p:sp>
        <p:nvSpPr>
          <p:cNvPr id="39" name="Text 32"/>
          <p:cNvSpPr/>
          <p:nvPr/>
        </p:nvSpPr>
        <p:spPr>
          <a:xfrm>
            <a:off x="7534656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困难负样本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7132320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41" name="Image 5" descr="/mnt/data/巡检者_ppt_assets/image9.png"/>
          <p:cNvPicPr>
            <a:picLocks noChangeAspect="1"/>
          </p:cNvPicPr>
          <p:nvPr/>
        </p:nvPicPr>
        <p:blipFill>
          <a:blip r:embed="rId7"/>
          <a:srcRect t="983" b="983"/>
          <a:stretch/>
        </p:blipFill>
        <p:spPr>
          <a:xfrm>
            <a:off x="7205472" y="2849497"/>
            <a:ext cx="1426464" cy="1417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05472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加入正常机舱与易混淆结构，降低背景误报。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695944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44" name="Shape 36"/>
          <p:cNvSpPr/>
          <p:nvPr/>
        </p:nvSpPr>
        <p:spPr>
          <a:xfrm>
            <a:off x="8851392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915400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40" dirty="0"/>
          </a:p>
        </p:txBody>
      </p:sp>
      <p:sp>
        <p:nvSpPr>
          <p:cNvPr id="46" name="Text 38"/>
          <p:cNvSpPr/>
          <p:nvPr/>
        </p:nvSpPr>
        <p:spPr>
          <a:xfrm>
            <a:off x="9235440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隔离测试 / 机舱误报审计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8833104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48" name="Image 6" descr="/mnt/data/巡检者_ppt_assets/image1.jpg"/>
          <p:cNvPicPr>
            <a:picLocks noChangeAspect="1"/>
          </p:cNvPicPr>
          <p:nvPr/>
        </p:nvPicPr>
        <p:blipFill>
          <a:blip r:embed="rId6"/>
          <a:srcRect l="16452" r="16452"/>
          <a:stretch/>
        </p:blipFill>
        <p:spPr>
          <a:xfrm>
            <a:off x="8906256" y="2849497"/>
            <a:ext cx="1426464" cy="1417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906256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在未见场景上进行隔离测试，并审计正常机舱误报。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10396728" y="3803353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51" name="Shape 42"/>
          <p:cNvSpPr/>
          <p:nvPr/>
        </p:nvSpPr>
        <p:spPr>
          <a:xfrm>
            <a:off x="10552176" y="2286492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10616184" y="23322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40" dirty="0"/>
          </a:p>
        </p:txBody>
      </p:sp>
      <p:sp>
        <p:nvSpPr>
          <p:cNvPr id="53" name="Text 44"/>
          <p:cNvSpPr/>
          <p:nvPr/>
        </p:nvSpPr>
        <p:spPr>
          <a:xfrm>
            <a:off x="10936224" y="23047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演示端人工复核</a:t>
            </a:r>
            <a:endParaRPr lang="en-US" sz="1250" dirty="0"/>
          </a:p>
        </p:txBody>
      </p:sp>
      <p:sp>
        <p:nvSpPr>
          <p:cNvPr id="54" name="Shape 45"/>
          <p:cNvSpPr/>
          <p:nvPr/>
        </p:nvSpPr>
        <p:spPr>
          <a:xfrm>
            <a:off x="10533888" y="2751914"/>
            <a:ext cx="1572768" cy="2700000"/>
          </a:xfrm>
          <a:prstGeom prst="roundRect">
            <a:avLst>
              <a:gd name="adj" fmla="val 3488"/>
            </a:avLst>
          </a:prstGeom>
          <a:solidFill>
            <a:srgbClr val="FBFCFD"/>
          </a:solidFill>
          <a:ln w="8890">
            <a:solidFill>
              <a:srgbClr val="E3EBEE"/>
            </a:solidFill>
            <a:prstDash val="solid"/>
          </a:ln>
        </p:spPr>
      </p:sp>
      <p:pic>
        <p:nvPicPr>
          <p:cNvPr id="55" name="Image 7" descr="/mnt/data/巡检者_ppt_assets/image14.png"/>
          <p:cNvPicPr>
            <a:picLocks noChangeAspect="1"/>
          </p:cNvPicPr>
          <p:nvPr/>
        </p:nvPicPr>
        <p:blipFill>
          <a:blip r:embed="rId8"/>
          <a:srcRect t="10256" b="10256"/>
          <a:stretch/>
        </p:blipFill>
        <p:spPr>
          <a:xfrm>
            <a:off x="10607040" y="2849497"/>
            <a:ext cx="1426464" cy="141732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0607040" y="4520453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通过演示端进行人工复核，形成最终判断。</a:t>
            </a:r>
            <a:endParaRPr lang="en-US" sz="1300" dirty="0"/>
          </a:p>
        </p:txBody>
      </p:sp>
      <p:sp>
        <p:nvSpPr>
          <p:cNvPr id="57" name="Shape 47"/>
          <p:cNvSpPr/>
          <p:nvPr/>
        </p:nvSpPr>
        <p:spPr>
          <a:xfrm>
            <a:off x="0" y="5606439"/>
            <a:ext cx="12191695" cy="788223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>
                <a:alpha val="0"/>
              </a:srgbClr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5010912" y="5729051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核心研究问题</a:t>
            </a:r>
            <a:endParaRPr lang="en-US" sz="1550" dirty="0"/>
          </a:p>
        </p:txBody>
      </p:sp>
      <p:sp>
        <p:nvSpPr>
          <p:cNvPr id="59" name="Text 49"/>
          <p:cNvSpPr/>
          <p:nvPr/>
        </p:nvSpPr>
        <p:spPr>
          <a:xfrm>
            <a:off x="3712464" y="6012515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6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可信评测   /   低误报   /   可复核定位</a:t>
            </a:r>
            <a:endParaRPr lang="en-US" sz="186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数据与评测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按场景隔离，让测试结果更可信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相似画面先归为同一场景，再进行训练、验证与测试切分。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20624" y="2240280"/>
            <a:ext cx="1847088" cy="3429000"/>
          </a:xfrm>
          <a:prstGeom prst="roundRect">
            <a:avLst>
              <a:gd name="adj" fmla="val 2970"/>
            </a:avLst>
          </a:prstGeom>
          <a:solidFill>
            <a:srgbClr val="F7FAFB"/>
          </a:solidFill>
          <a:ln w="8890">
            <a:solidFill>
              <a:srgbClr val="DFE8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24231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1419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1499616" y="2523744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张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公开管道泄漏图</a:t>
            </a:r>
            <a:endParaRPr lang="en-US" sz="1350" dirty="0"/>
          </a:p>
        </p:txBody>
      </p:sp>
      <p:pic>
        <p:nvPicPr>
          <p:cNvPr id="12" name="Image 1" descr="/mnt/data/巡检者_ppt_assets/image6.jpg"/>
          <p:cNvPicPr>
            <a:picLocks noChangeAspect="1"/>
          </p:cNvPicPr>
          <p:nvPr/>
        </p:nvPicPr>
        <p:blipFill>
          <a:blip r:embed="rId4"/>
          <a:srcRect l="11167" r="11167"/>
          <a:stretch/>
        </p:blipFill>
        <p:spPr>
          <a:xfrm>
            <a:off x="585216" y="3264408"/>
            <a:ext cx="1417320" cy="1417320"/>
          </a:xfrm>
          <a:prstGeom prst="rect">
            <a:avLst/>
          </a:prstGeom>
        </p:spPr>
      </p:pic>
      <p:pic>
        <p:nvPicPr>
          <p:cNvPr id="13" name="Image 2" descr="/mnt/data/巡检者_ppt_assets/image8.png"/>
          <p:cNvPicPr>
            <a:picLocks noChangeAspect="1"/>
          </p:cNvPicPr>
          <p:nvPr/>
        </p:nvPicPr>
        <p:blipFill>
          <a:blip r:embed="rId5"/>
          <a:srcRect l="9970" r="9970"/>
          <a:stretch/>
        </p:blipFill>
        <p:spPr>
          <a:xfrm>
            <a:off x="1078992" y="3611880"/>
            <a:ext cx="969264" cy="12161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51206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1939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2414016" y="2240280"/>
            <a:ext cx="1847088" cy="3429000"/>
          </a:xfrm>
          <a:prstGeom prst="roundRect">
            <a:avLst>
              <a:gd name="adj" fmla="val 2970"/>
            </a:avLst>
          </a:prstGeom>
          <a:solidFill>
            <a:srgbClr val="F7FAFB"/>
          </a:solidFill>
          <a:ln w="8890">
            <a:solidFill>
              <a:srgbClr val="DFE8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542032" y="241401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pHash + 并查集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542032" y="28529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汉明距离 ≤ 10 为合并条件</a:t>
            </a:r>
            <a:endParaRPr lang="en-US" sz="1230" dirty="0"/>
          </a:p>
        </p:txBody>
      </p:sp>
      <p:sp>
        <p:nvSpPr>
          <p:cNvPr id="18" name="Shape 13"/>
          <p:cNvSpPr/>
          <p:nvPr/>
        </p:nvSpPr>
        <p:spPr>
          <a:xfrm>
            <a:off x="2825496" y="3657600"/>
            <a:ext cx="109728" cy="109728"/>
          </a:xfrm>
          <a:prstGeom prst="ellipse">
            <a:avLst/>
          </a:prstGeom>
          <a:solidFill>
            <a:srgbClr val="5AAA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072384" y="3474720"/>
            <a:ext cx="109728" cy="109728"/>
          </a:xfrm>
          <a:prstGeom prst="ellipse">
            <a:avLst/>
          </a:prstGeom>
          <a:solidFill>
            <a:srgbClr val="57C4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18688" y="3703320"/>
            <a:ext cx="109728" cy="109728"/>
          </a:xfrm>
          <a:prstGeom prst="ellipse">
            <a:avLst/>
          </a:prstGeom>
          <a:solidFill>
            <a:srgbClr val="9B7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962656" y="3931920"/>
            <a:ext cx="109728" cy="109728"/>
          </a:xfrm>
          <a:prstGeom prst="ellipse">
            <a:avLst/>
          </a:prstGeom>
          <a:solidFill>
            <a:srgbClr val="5AAA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511296" y="3566160"/>
            <a:ext cx="109728" cy="109728"/>
          </a:xfrm>
          <a:prstGeom prst="ellipse">
            <a:avLst/>
          </a:prstGeom>
          <a:solidFill>
            <a:srgbClr val="57C4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721608" y="3721608"/>
            <a:ext cx="109728" cy="109728"/>
          </a:xfrm>
          <a:prstGeom prst="ellipse">
            <a:avLst/>
          </a:prstGeom>
          <a:solidFill>
            <a:srgbClr val="9B7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02736" y="3977640"/>
            <a:ext cx="109728" cy="109728"/>
          </a:xfrm>
          <a:prstGeom prst="ellipse">
            <a:avLst/>
          </a:prstGeom>
          <a:solidFill>
            <a:srgbClr val="5AAA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18688" y="4206240"/>
            <a:ext cx="109728" cy="109728"/>
          </a:xfrm>
          <a:prstGeom prst="ellipse">
            <a:avLst/>
          </a:prstGeom>
          <a:solidFill>
            <a:srgbClr val="57C4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65576" y="4325112"/>
            <a:ext cx="109728" cy="109728"/>
          </a:xfrm>
          <a:prstGeom prst="ellipse">
            <a:avLst/>
          </a:prstGeom>
          <a:solidFill>
            <a:srgbClr val="9B7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916936" y="4361688"/>
            <a:ext cx="109728" cy="109728"/>
          </a:xfrm>
          <a:prstGeom prst="ellipse">
            <a:avLst/>
          </a:prstGeom>
          <a:solidFill>
            <a:srgbClr val="5AAA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52344" y="4754880"/>
            <a:ext cx="1170432" cy="438912"/>
          </a:xfrm>
          <a:prstGeom prst="roundRect">
            <a:avLst>
              <a:gd name="adj" fmla="val 8333"/>
            </a:avLst>
          </a:prstGeom>
          <a:solidFill>
            <a:srgbClr val="EEF7F8"/>
          </a:solidFill>
          <a:ln w="7620">
            <a:solidFill>
              <a:srgbClr val="CFE4E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88036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合并同一场景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407408" y="2240280"/>
            <a:ext cx="1847088" cy="3429000"/>
          </a:xfrm>
          <a:prstGeom prst="roundRect">
            <a:avLst>
              <a:gd name="adj" fmla="val 2970"/>
            </a:avLst>
          </a:prstGeom>
          <a:solidFill>
            <a:srgbClr val="F7FAFB"/>
          </a:solidFill>
          <a:ln w="8890">
            <a:solidFill>
              <a:srgbClr val="DFE8E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81728" y="24231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654</a:t>
            </a:r>
            <a:endParaRPr lang="en-US" sz="3300" dirty="0"/>
          </a:p>
        </p:txBody>
      </p:sp>
      <p:sp>
        <p:nvSpPr>
          <p:cNvPr id="32" name="Text 27"/>
          <p:cNvSpPr/>
          <p:nvPr/>
        </p:nvSpPr>
        <p:spPr>
          <a:xfrm>
            <a:off x="5468112" y="2514600"/>
            <a:ext cx="576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独立场景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4608576" y="3337560"/>
            <a:ext cx="1444752" cy="603504"/>
          </a:xfrm>
          <a:prstGeom prst="roundRect">
            <a:avLst>
              <a:gd name="adj" fmla="val 9091"/>
            </a:avLst>
          </a:prstGeom>
          <a:solidFill>
            <a:srgbClr val="F9FCFC"/>
          </a:solidFill>
          <a:ln w="8890">
            <a:solidFill>
              <a:srgbClr val="D9E8EA"/>
            </a:solidFill>
            <a:prstDash val="solid"/>
          </a:ln>
        </p:spPr>
      </p:sp>
      <p:pic>
        <p:nvPicPr>
          <p:cNvPr id="34" name="Image 3" descr="/mnt/data/巡检者_ppt_assets/image6.jpg"/>
          <p:cNvPicPr>
            <a:picLocks noChangeAspect="1"/>
          </p:cNvPicPr>
          <p:nvPr/>
        </p:nvPicPr>
        <p:blipFill>
          <a:blip r:embed="rId4"/>
          <a:srcRect t="5293" b="5293"/>
          <a:stretch/>
        </p:blipFill>
        <p:spPr>
          <a:xfrm>
            <a:off x="4700016" y="3410712"/>
            <a:ext cx="658368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04104" y="3520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 1</a:t>
            </a:r>
            <a:endParaRPr lang="en-US" sz="1160" dirty="0"/>
          </a:p>
        </p:txBody>
      </p:sp>
      <p:sp>
        <p:nvSpPr>
          <p:cNvPr id="36" name="Shape 30"/>
          <p:cNvSpPr/>
          <p:nvPr/>
        </p:nvSpPr>
        <p:spPr>
          <a:xfrm>
            <a:off x="4608576" y="4114800"/>
            <a:ext cx="1444752" cy="603504"/>
          </a:xfrm>
          <a:prstGeom prst="roundRect">
            <a:avLst>
              <a:gd name="adj" fmla="val 9091"/>
            </a:avLst>
          </a:prstGeom>
          <a:solidFill>
            <a:srgbClr val="F9FCFC"/>
          </a:solidFill>
          <a:ln w="8890">
            <a:solidFill>
              <a:srgbClr val="D9E8EA"/>
            </a:solidFill>
            <a:prstDash val="solid"/>
          </a:ln>
        </p:spPr>
      </p:sp>
      <p:pic>
        <p:nvPicPr>
          <p:cNvPr id="37" name="Image 4" descr="/mnt/data/巡检者_ppt_assets/image1.jpg"/>
          <p:cNvPicPr>
            <a:picLocks noChangeAspect="1"/>
          </p:cNvPicPr>
          <p:nvPr/>
        </p:nvPicPr>
        <p:blipFill>
          <a:blip r:embed="rId6"/>
          <a:srcRect l="2000" r="2000"/>
          <a:stretch/>
        </p:blipFill>
        <p:spPr>
          <a:xfrm>
            <a:off x="4700016" y="4187952"/>
            <a:ext cx="658368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404104" y="429768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 2</a:t>
            </a:r>
            <a:endParaRPr lang="en-US" sz="1160" dirty="0"/>
          </a:p>
        </p:txBody>
      </p:sp>
      <p:sp>
        <p:nvSpPr>
          <p:cNvPr id="39" name="Shape 32"/>
          <p:cNvSpPr/>
          <p:nvPr/>
        </p:nvSpPr>
        <p:spPr>
          <a:xfrm>
            <a:off x="4608576" y="4892040"/>
            <a:ext cx="1444752" cy="603504"/>
          </a:xfrm>
          <a:prstGeom prst="roundRect">
            <a:avLst>
              <a:gd name="adj" fmla="val 9091"/>
            </a:avLst>
          </a:prstGeom>
          <a:solidFill>
            <a:srgbClr val="F9FCFC"/>
          </a:solidFill>
          <a:ln w="8890">
            <a:solidFill>
              <a:srgbClr val="D9E8EA"/>
            </a:solidFill>
            <a:prstDash val="solid"/>
          </a:ln>
        </p:spPr>
      </p:sp>
      <p:pic>
        <p:nvPicPr>
          <p:cNvPr id="40" name="Image 5" descr="/mnt/data/巡检者_ppt_assets/image8.png"/>
          <p:cNvPicPr>
            <a:picLocks noChangeAspect="1"/>
          </p:cNvPicPr>
          <p:nvPr/>
        </p:nvPicPr>
        <p:blipFill>
          <a:blip r:embed="rId5"/>
          <a:srcRect t="15434" b="15434"/>
          <a:stretch/>
        </p:blipFill>
        <p:spPr>
          <a:xfrm>
            <a:off x="4700016" y="4965192"/>
            <a:ext cx="658368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404104" y="50749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 3</a:t>
            </a:r>
            <a:endParaRPr lang="en-US" sz="1160" dirty="0"/>
          </a:p>
        </p:txBody>
      </p:sp>
      <p:sp>
        <p:nvSpPr>
          <p:cNvPr id="42" name="Shape 34"/>
          <p:cNvSpPr/>
          <p:nvPr/>
        </p:nvSpPr>
        <p:spPr>
          <a:xfrm>
            <a:off x="6400800" y="2240280"/>
            <a:ext cx="1847088" cy="3429000"/>
          </a:xfrm>
          <a:prstGeom prst="roundRect">
            <a:avLst>
              <a:gd name="adj" fmla="val 2970"/>
            </a:avLst>
          </a:prstGeom>
          <a:solidFill>
            <a:srgbClr val="F7FAFB"/>
          </a:solidFill>
          <a:ln w="8890">
            <a:solidFill>
              <a:srgbClr val="DFE8EC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510528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同一场景组仅进入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train / valid / test 的一组</a:t>
            </a:r>
            <a:endParaRPr lang="en-US" sz="1340" dirty="0"/>
          </a:p>
        </p:txBody>
      </p:sp>
      <p:sp>
        <p:nvSpPr>
          <p:cNvPr id="44" name="Shape 36"/>
          <p:cNvSpPr/>
          <p:nvPr/>
        </p:nvSpPr>
        <p:spPr>
          <a:xfrm>
            <a:off x="7434072" y="321868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9EDF9"/>
          </a:solidFill>
          <a:ln w="12700">
            <a:solidFill>
              <a:srgbClr val="D9EDF9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452360" y="33009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7434072" y="3694176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E5F5EA"/>
          </a:solidFill>
          <a:ln w="12700">
            <a:solidFill>
              <a:srgbClr val="E5F5E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452360" y="377647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434072" y="4169664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EEE7FA"/>
          </a:solidFill>
          <a:ln w="12700">
            <a:solidFill>
              <a:srgbClr val="EEE7F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452360" y="425196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</a:t>
            </a:r>
            <a:endParaRPr lang="en-US" sz="1050" dirty="0"/>
          </a:p>
        </p:txBody>
      </p:sp>
      <p:pic>
        <p:nvPicPr>
          <p:cNvPr id="50" name="Image 6" descr="/mnt/data/巡检者_ppt_assets/image6.jpg"/>
          <p:cNvPicPr>
            <a:picLocks noChangeAspect="1"/>
          </p:cNvPicPr>
          <p:nvPr/>
        </p:nvPicPr>
        <p:blipFill>
          <a:blip r:embed="rId4"/>
          <a:srcRect l="31108" r="31108"/>
          <a:stretch/>
        </p:blipFill>
        <p:spPr>
          <a:xfrm>
            <a:off x="6638544" y="3246120"/>
            <a:ext cx="658368" cy="135331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839712" y="4919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D4A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212</a:t>
            </a:r>
            <a:endParaRPr lang="en-US" sz="3000" dirty="0"/>
          </a:p>
        </p:txBody>
      </p:sp>
      <p:sp>
        <p:nvSpPr>
          <p:cNvPr id="52" name="Text 43"/>
          <p:cNvSpPr/>
          <p:nvPr/>
        </p:nvSpPr>
        <p:spPr>
          <a:xfrm>
            <a:off x="7571232" y="497433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张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隔离测试集</a:t>
            </a:r>
            <a:endParaRPr lang="en-US" sz="1250" dirty="0"/>
          </a:p>
        </p:txBody>
      </p:sp>
      <p:sp>
        <p:nvSpPr>
          <p:cNvPr id="53" name="Shape 44"/>
          <p:cNvSpPr/>
          <p:nvPr/>
        </p:nvSpPr>
        <p:spPr>
          <a:xfrm>
            <a:off x="8412480" y="1920240"/>
            <a:ext cx="0" cy="3794760"/>
          </a:xfrm>
          <a:prstGeom prst="line">
            <a:avLst/>
          </a:prstGeom>
          <a:noFill/>
          <a:ln w="10160">
            <a:solidFill>
              <a:srgbClr val="D5E3E8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85953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为什么按场景隔离更可靠？</a:t>
            </a:r>
            <a:endParaRPr lang="en-US" sz="2000" dirty="0"/>
          </a:p>
        </p:txBody>
      </p:sp>
      <p:sp>
        <p:nvSpPr>
          <p:cNvPr id="55" name="Shape 46"/>
          <p:cNvSpPr/>
          <p:nvPr/>
        </p:nvSpPr>
        <p:spPr>
          <a:xfrm>
            <a:off x="8595360" y="2423160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8595360" y="2560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避免相似画面泄漏</a:t>
            </a:r>
            <a:endParaRPr lang="en-US" sz="1700" dirty="0"/>
          </a:p>
        </p:txBody>
      </p:sp>
      <p:sp>
        <p:nvSpPr>
          <p:cNvPr id="57" name="Text 48"/>
          <p:cNvSpPr/>
          <p:nvPr/>
        </p:nvSpPr>
        <p:spPr>
          <a:xfrm>
            <a:off x="8595360" y="278892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将视觉上高度相似的画面归入同一场景，避免同一场景的近重复图同时出现在训练集与测试集。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8595360" y="3730752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8595360" y="3867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更贴近实际应用</a:t>
            </a:r>
            <a:endParaRPr lang="en-US" sz="1700" dirty="0"/>
          </a:p>
        </p:txBody>
      </p:sp>
      <p:sp>
        <p:nvSpPr>
          <p:cNvPr id="60" name="Text 51"/>
          <p:cNvSpPr/>
          <p:nvPr/>
        </p:nvSpPr>
        <p:spPr>
          <a:xfrm>
            <a:off x="8595360" y="4096512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按真实场景而非单张图片划分，更能模拟部署时遇到“未见场景”的情况。</a:t>
            </a:r>
            <a:endParaRPr lang="en-US" sz="1200" dirty="0"/>
          </a:p>
        </p:txBody>
      </p:sp>
      <p:sp>
        <p:nvSpPr>
          <p:cNvPr id="61" name="Shape 52"/>
          <p:cNvSpPr/>
          <p:nvPr/>
        </p:nvSpPr>
        <p:spPr>
          <a:xfrm>
            <a:off x="8595360" y="4910328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8595360" y="5047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评测结论更可信</a:t>
            </a:r>
            <a:endParaRPr lang="en-US" sz="1700" dirty="0"/>
          </a:p>
        </p:txBody>
      </p:sp>
      <p:sp>
        <p:nvSpPr>
          <p:cNvPr id="63" name="Text 54"/>
          <p:cNvSpPr/>
          <p:nvPr/>
        </p:nvSpPr>
        <p:spPr>
          <a:xfrm>
            <a:off x="8595360" y="527608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测试图来自模型未见的独立场景，可减少数据泄漏带来的性能虚高。</a:t>
            </a:r>
            <a:endParaRPr lang="en-US" sz="1200" dirty="0"/>
          </a:p>
        </p:txBody>
      </p:sp>
      <p:sp>
        <p:nvSpPr>
          <p:cNvPr id="64" name="Shape 55"/>
          <p:cNvSpPr/>
          <p:nvPr/>
        </p:nvSpPr>
        <p:spPr>
          <a:xfrm>
            <a:off x="0" y="603504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2743200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3511296" y="60716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每张测试图来自模型未见的场景。</a:t>
            </a:r>
            <a:endParaRPr lang="en-US" sz="1730" dirty="0"/>
          </a:p>
        </p:txBody>
      </p:sp>
      <p:sp>
        <p:nvSpPr>
          <p:cNvPr id="67" name="Shape 58"/>
          <p:cNvSpPr/>
          <p:nvPr/>
        </p:nvSpPr>
        <p:spPr>
          <a:xfrm>
            <a:off x="8796528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数据与评测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先解决“评测虚高”，再讨论模型效果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旧划分中存在大量训练—测试重合，因此主动放弃更漂亮但不可信的旧指标。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75488" y="2267712"/>
            <a:ext cx="2880360" cy="3438144"/>
          </a:xfrm>
          <a:prstGeom prst="roundRect">
            <a:avLst>
              <a:gd name="adj" fmla="val 1905"/>
            </a:avLst>
          </a:prstGeom>
          <a:solidFill>
            <a:srgbClr val="FAFCFD"/>
          </a:solidFill>
          <a:ln w="8890">
            <a:solidFill>
              <a:srgbClr val="E1E9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5968" y="2267712"/>
            <a:ext cx="2880360" cy="3438144"/>
          </a:xfrm>
          <a:prstGeom prst="roundRect">
            <a:avLst>
              <a:gd name="adj" fmla="val 1905"/>
            </a:avLst>
          </a:prstGeom>
          <a:solidFill>
            <a:srgbClr val="FAFCFD"/>
          </a:solidFill>
          <a:ln w="8890">
            <a:solidFill>
              <a:srgbClr val="E1E9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237744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训练集（旧划分）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01768" y="2377440"/>
            <a:ext cx="1577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测试集（旧划分）</a:t>
            </a:r>
            <a:endParaRPr lang="en-US" sz="1500" dirty="0"/>
          </a:p>
        </p:txBody>
      </p:sp>
      <p:pic>
        <p:nvPicPr>
          <p:cNvPr id="13" name="Image 1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640080" y="2770632"/>
            <a:ext cx="1143000" cy="822960"/>
          </a:xfrm>
          <a:prstGeom prst="rect">
            <a:avLst/>
          </a:prstGeom>
        </p:spPr>
      </p:pic>
      <p:pic>
        <p:nvPicPr>
          <p:cNvPr id="14" name="Image 2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1938528" y="2770632"/>
            <a:ext cx="1143000" cy="822960"/>
          </a:xfrm>
          <a:prstGeom prst="rect">
            <a:avLst/>
          </a:prstGeom>
        </p:spPr>
      </p:pic>
      <p:pic>
        <p:nvPicPr>
          <p:cNvPr id="15" name="Image 3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640080" y="3712464"/>
            <a:ext cx="1143000" cy="822960"/>
          </a:xfrm>
          <a:prstGeom prst="rect">
            <a:avLst/>
          </a:prstGeom>
        </p:spPr>
      </p:pic>
      <p:pic>
        <p:nvPicPr>
          <p:cNvPr id="16" name="Image 4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1938528" y="3712464"/>
            <a:ext cx="1143000" cy="822960"/>
          </a:xfrm>
          <a:prstGeom prst="rect">
            <a:avLst/>
          </a:prstGeom>
        </p:spPr>
      </p:pic>
      <p:pic>
        <p:nvPicPr>
          <p:cNvPr id="17" name="Image 5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640080" y="4654296"/>
            <a:ext cx="1143000" cy="822960"/>
          </a:xfrm>
          <a:prstGeom prst="rect">
            <a:avLst/>
          </a:prstGeom>
        </p:spPr>
      </p:pic>
      <p:pic>
        <p:nvPicPr>
          <p:cNvPr id="18" name="Image 6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1938528" y="4654296"/>
            <a:ext cx="1143000" cy="822960"/>
          </a:xfrm>
          <a:prstGeom prst="rect">
            <a:avLst/>
          </a:prstGeom>
        </p:spPr>
      </p:pic>
      <p:pic>
        <p:nvPicPr>
          <p:cNvPr id="19" name="Image 7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4480560" y="2770632"/>
            <a:ext cx="1143000" cy="822960"/>
          </a:xfrm>
          <a:prstGeom prst="rect">
            <a:avLst/>
          </a:prstGeom>
        </p:spPr>
      </p:pic>
      <p:pic>
        <p:nvPicPr>
          <p:cNvPr id="20" name="Image 8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5779008" y="2770632"/>
            <a:ext cx="1143000" cy="822960"/>
          </a:xfrm>
          <a:prstGeom prst="rect">
            <a:avLst/>
          </a:prstGeom>
        </p:spPr>
      </p:pic>
      <p:pic>
        <p:nvPicPr>
          <p:cNvPr id="21" name="Image 9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4480560" y="3712464"/>
            <a:ext cx="1143000" cy="822960"/>
          </a:xfrm>
          <a:prstGeom prst="rect">
            <a:avLst/>
          </a:prstGeom>
        </p:spPr>
      </p:pic>
      <p:pic>
        <p:nvPicPr>
          <p:cNvPr id="22" name="Image 10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5779008" y="3712464"/>
            <a:ext cx="1143000" cy="822960"/>
          </a:xfrm>
          <a:prstGeom prst="rect">
            <a:avLst/>
          </a:prstGeom>
        </p:spPr>
      </p:pic>
      <p:pic>
        <p:nvPicPr>
          <p:cNvPr id="23" name="Image 11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4480560" y="4654296"/>
            <a:ext cx="1143000" cy="822960"/>
          </a:xfrm>
          <a:prstGeom prst="rect">
            <a:avLst/>
          </a:prstGeom>
        </p:spPr>
      </p:pic>
      <p:pic>
        <p:nvPicPr>
          <p:cNvPr id="24" name="Image 12" descr="/mnt/data/巡检者_ppt_assets/image1.jpg"/>
          <p:cNvPicPr>
            <a:picLocks noChangeAspect="1"/>
          </p:cNvPicPr>
          <p:nvPr/>
        </p:nvPicPr>
        <p:blipFill>
          <a:blip r:embed="rId4"/>
          <a:srcRect l="3704" r="3704"/>
          <a:stretch/>
        </p:blipFill>
        <p:spPr>
          <a:xfrm>
            <a:off x="5779008" y="4654296"/>
            <a:ext cx="1143000" cy="82296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3419856" y="3200400"/>
            <a:ext cx="905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近重复图像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跨集合出现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3529584" y="3858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2600" dirty="0"/>
          </a:p>
        </p:txBody>
      </p:sp>
      <p:sp>
        <p:nvSpPr>
          <p:cNvPr id="27" name="Text 12"/>
          <p:cNvSpPr/>
          <p:nvPr/>
        </p:nvSpPr>
        <p:spPr>
          <a:xfrm>
            <a:off x="7818120" y="22311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76.9%</a:t>
            </a:r>
            <a:endParaRPr lang="en-US" sz="4800" dirty="0"/>
          </a:p>
        </p:txBody>
      </p:sp>
      <p:sp>
        <p:nvSpPr>
          <p:cNvPr id="28" name="Text 13"/>
          <p:cNvSpPr/>
          <p:nvPr/>
        </p:nvSpPr>
        <p:spPr>
          <a:xfrm>
            <a:off x="7543800" y="2953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旧测试集约 76.9% 的图片已在更早训练集中出现。</a:t>
            </a:r>
            <a:endParaRPr lang="en-US" sz="1500" dirty="0"/>
          </a:p>
        </p:txBody>
      </p:sp>
      <p:sp>
        <p:nvSpPr>
          <p:cNvPr id="29" name="Shape 14"/>
          <p:cNvSpPr/>
          <p:nvPr/>
        </p:nvSpPr>
        <p:spPr>
          <a:xfrm>
            <a:off x="7644384" y="3460351"/>
            <a:ext cx="3246120" cy="879131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8890">
            <a:solidFill>
              <a:srgbClr val="E4EAEE"/>
            </a:solidFill>
            <a:prstDash val="solid"/>
          </a:ln>
        </p:spPr>
      </p:sp>
      <p:sp>
        <p:nvSpPr>
          <p:cNvPr id="30" name="Text 15"/>
          <p:cNvSpPr/>
          <p:nvPr/>
        </p:nvSpPr>
        <p:spPr>
          <a:xfrm>
            <a:off x="7973568" y="36576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7879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0.7956 mAP50</a:t>
            </a:r>
            <a:endParaRPr lang="en-US" sz="2800" dirty="0"/>
          </a:p>
        </p:txBody>
      </p:sp>
      <p:sp>
        <p:nvSpPr>
          <p:cNvPr id="31" name="Shape 16"/>
          <p:cNvSpPr/>
          <p:nvPr/>
        </p:nvSpPr>
        <p:spPr>
          <a:xfrm>
            <a:off x="7973568" y="3867912"/>
            <a:ext cx="2176272" cy="0"/>
          </a:xfrm>
          <a:prstGeom prst="line">
            <a:avLst/>
          </a:prstGeom>
          <a:noFill/>
          <a:ln w="33020">
            <a:solidFill>
              <a:srgbClr val="D77272"/>
            </a:solidFill>
            <a:prstDash val="solid"/>
          </a:ln>
        </p:spPr>
      </p:sp>
      <p:sp>
        <p:nvSpPr>
          <p:cNvPr id="32" name="Shape 17"/>
          <p:cNvSpPr/>
          <p:nvPr/>
        </p:nvSpPr>
        <p:spPr>
          <a:xfrm>
            <a:off x="10177272" y="3712464"/>
            <a:ext cx="566928" cy="237744"/>
          </a:xfrm>
          <a:prstGeom prst="roundRect">
            <a:avLst>
              <a:gd name="adj" fmla="val 11538"/>
            </a:avLst>
          </a:prstGeom>
          <a:solidFill>
            <a:srgbClr val="FCE1DE"/>
          </a:solidFill>
          <a:ln w="12700">
            <a:solidFill>
              <a:srgbClr val="FCE1DE"/>
            </a:solidFill>
            <a:prstDash val="solid"/>
          </a:ln>
        </p:spPr>
      </p:sp>
      <p:sp>
        <p:nvSpPr>
          <p:cNvPr id="33" name="Text 18"/>
          <p:cNvSpPr/>
          <p:nvPr/>
        </p:nvSpPr>
        <p:spPr>
          <a:xfrm>
            <a:off x="10213848" y="37673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574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不再引用</a:t>
            </a:r>
            <a:endParaRPr lang="en-US" sz="850" dirty="0"/>
          </a:p>
        </p:txBody>
      </p:sp>
      <p:sp>
        <p:nvSpPr>
          <p:cNvPr id="34" name="Shape 19"/>
          <p:cNvSpPr/>
          <p:nvPr/>
        </p:nvSpPr>
        <p:spPr>
          <a:xfrm>
            <a:off x="7680960" y="4617720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35" name="Text 20"/>
          <p:cNvSpPr/>
          <p:nvPr/>
        </p:nvSpPr>
        <p:spPr>
          <a:xfrm>
            <a:off x="7680960" y="4754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修正后的评测</a:t>
            </a:r>
            <a:endParaRPr lang="en-US" sz="1700" dirty="0"/>
          </a:p>
        </p:txBody>
      </p:sp>
      <p:sp>
        <p:nvSpPr>
          <p:cNvPr id="36" name="Text 21"/>
          <p:cNvSpPr/>
          <p:nvPr/>
        </p:nvSpPr>
        <p:spPr>
          <a:xfrm>
            <a:off x="7699248" y="500176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重新按场景划分数据集，严格去除训练集与测试集的重合图像。新的评测指标有所下降，但结论更加真实可信。</a:t>
            </a:r>
            <a:endParaRPr lang="en-US" sz="1220" dirty="0"/>
          </a:p>
        </p:txBody>
      </p:sp>
      <p:sp>
        <p:nvSpPr>
          <p:cNvPr id="37" name="Shape 22"/>
          <p:cNvSpPr/>
          <p:nvPr/>
        </p:nvSpPr>
        <p:spPr>
          <a:xfrm>
            <a:off x="0" y="603504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2743200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3511296" y="6071616"/>
            <a:ext cx="5454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指标下降，不等于模型退步；首先要保证测试真的独立。</a:t>
            </a:r>
            <a:endParaRPr lang="en-US" sz="1730" dirty="0"/>
          </a:p>
        </p:txBody>
      </p:sp>
      <p:sp>
        <p:nvSpPr>
          <p:cNvPr id="40" name="Shape 25"/>
          <p:cNvSpPr/>
          <p:nvPr/>
        </p:nvSpPr>
        <p:spPr>
          <a:xfrm>
            <a:off x="8796528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模型方法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YOLO11n-seg：定位疑似液体区域，而非只给分类结果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 v8 在场景隔离数据基础上加入困难负样本，并输出可供人工核对的分割结果。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93776" y="229514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" y="2340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877824" y="2331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输入图像</a:t>
            </a:r>
            <a:endParaRPr lang="en-US" sz="1450" dirty="0"/>
          </a:p>
        </p:txBody>
      </p:sp>
      <p:pic>
        <p:nvPicPr>
          <p:cNvPr id="12" name="Image 1" descr="/mnt/data/巡检者_ppt_assets/image6.jpg"/>
          <p:cNvPicPr>
            <a:picLocks noChangeAspect="1"/>
          </p:cNvPicPr>
          <p:nvPr/>
        </p:nvPicPr>
        <p:blipFill>
          <a:blip r:embed="rId4"/>
          <a:srcRect l="9945" r="9945"/>
          <a:stretch/>
        </p:blipFill>
        <p:spPr>
          <a:xfrm>
            <a:off x="475488" y="2633472"/>
            <a:ext cx="2697480" cy="2615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0"/>
          <p:cNvSpPr/>
          <p:nvPr/>
        </p:nvSpPr>
        <p:spPr>
          <a:xfrm>
            <a:off x="3593592" y="229514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0" y="2340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40" dirty="0"/>
          </a:p>
        </p:txBody>
      </p:sp>
      <p:sp>
        <p:nvSpPr>
          <p:cNvPr id="16" name="Text 12"/>
          <p:cNvSpPr/>
          <p:nvPr/>
        </p:nvSpPr>
        <p:spPr>
          <a:xfrm>
            <a:off x="3986784" y="23317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YOLO11n-seg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675888" y="2633472"/>
            <a:ext cx="2157984" cy="2615184"/>
          </a:xfrm>
          <a:prstGeom prst="roundRect">
            <a:avLst>
              <a:gd name="adj" fmla="val 2542"/>
            </a:avLst>
          </a:prstGeom>
          <a:solidFill>
            <a:srgbClr val="F5F9FB"/>
          </a:solidFill>
          <a:ln w="8890">
            <a:solidFill>
              <a:srgbClr val="E3EB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41648" y="3154680"/>
            <a:ext cx="457200" cy="1078992"/>
          </a:xfrm>
          <a:prstGeom prst="chevron">
            <a:avLst/>
          </a:prstGeom>
          <a:solidFill>
            <a:srgbClr val="8FC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79392" y="3191256"/>
            <a:ext cx="457200" cy="1078992"/>
          </a:xfrm>
          <a:prstGeom prst="chevron">
            <a:avLst/>
          </a:prstGeom>
          <a:solidFill>
            <a:srgbClr val="A5D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17136" y="3227832"/>
            <a:ext cx="457200" cy="1078992"/>
          </a:xfrm>
          <a:prstGeom prst="chevron">
            <a:avLst/>
          </a:prstGeom>
          <a:solidFill>
            <a:srgbClr val="BEE1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54880" y="3264408"/>
            <a:ext cx="457200" cy="1078992"/>
          </a:xfrm>
          <a:prstGeom prst="chevron">
            <a:avLst/>
          </a:prstGeom>
          <a:solidFill>
            <a:srgbClr val="D5E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92040" y="3063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mask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92040" y="3721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bbox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92040" y="4379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907024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26" name="Shape 22"/>
          <p:cNvSpPr/>
          <p:nvPr/>
        </p:nvSpPr>
        <p:spPr>
          <a:xfrm>
            <a:off x="6199632" y="2295144"/>
            <a:ext cx="310896" cy="310896"/>
          </a:xfrm>
          <a:prstGeom prst="ellipse">
            <a:avLst/>
          </a:prstGeom>
          <a:solidFill>
            <a:srgbClr val="DFF4F3"/>
          </a:solidFill>
          <a:ln w="12700">
            <a:solidFill>
              <a:srgbClr val="DFF4F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2340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40" dirty="0"/>
          </a:p>
        </p:txBody>
      </p:sp>
      <p:sp>
        <p:nvSpPr>
          <p:cNvPr id="28" name="Text 24"/>
          <p:cNvSpPr/>
          <p:nvPr/>
        </p:nvSpPr>
        <p:spPr>
          <a:xfrm>
            <a:off x="6583680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 mask / bbox / score</a:t>
            </a:r>
            <a:endParaRPr lang="en-US" sz="1330" dirty="0"/>
          </a:p>
        </p:txBody>
      </p:sp>
      <p:pic>
        <p:nvPicPr>
          <p:cNvPr id="29" name="Image 2" descr="/mnt/data/巡检者_ppt_assets/image6.jpg"/>
          <p:cNvPicPr>
            <a:picLocks noChangeAspect="1"/>
          </p:cNvPicPr>
          <p:nvPr/>
        </p:nvPicPr>
        <p:blipFill>
          <a:blip r:embed="rId4"/>
          <a:srcRect l="15376" r="15376"/>
          <a:stretch/>
        </p:blipFill>
        <p:spPr>
          <a:xfrm>
            <a:off x="6236208" y="2633472"/>
            <a:ext cx="2331720" cy="261518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796528" y="2212848"/>
            <a:ext cx="0" cy="3584448"/>
          </a:xfrm>
          <a:prstGeom prst="line">
            <a:avLst/>
          </a:prstGeom>
          <a:noFill/>
          <a:ln w="10160">
            <a:solidFill>
              <a:srgbClr val="D5E3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015984" y="2249424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015984" y="23865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模型设置与实现细节</a:t>
            </a:r>
            <a:endParaRPr lang="en-US" sz="1700" dirty="0"/>
          </a:p>
        </p:txBody>
      </p:sp>
      <p:sp>
        <p:nvSpPr>
          <p:cNvPr id="33" name="Shape 28"/>
          <p:cNvSpPr/>
          <p:nvPr/>
        </p:nvSpPr>
        <p:spPr>
          <a:xfrm>
            <a:off x="9015984" y="2834640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040112" y="283464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070848" y="2926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模型名称</a:t>
            </a:r>
            <a:endParaRPr lang="en-US" sz="1080" dirty="0"/>
          </a:p>
        </p:txBody>
      </p:sp>
      <p:sp>
        <p:nvSpPr>
          <p:cNvPr id="36" name="Text 31"/>
          <p:cNvSpPr/>
          <p:nvPr/>
        </p:nvSpPr>
        <p:spPr>
          <a:xfrm>
            <a:off x="10131552" y="2916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YOLO11n-seg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9015984" y="3282696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40112" y="328269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070848" y="3374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基础版本</a:t>
            </a:r>
            <a:endParaRPr lang="en-US" sz="1080" dirty="0"/>
          </a:p>
        </p:txBody>
      </p:sp>
      <p:sp>
        <p:nvSpPr>
          <p:cNvPr id="40" name="Text 35"/>
          <p:cNvSpPr/>
          <p:nvPr/>
        </p:nvSpPr>
        <p:spPr>
          <a:xfrm>
            <a:off x="10131552" y="3364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v8；场景隔离数据 + 困难负样本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9015984" y="3730752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0040112" y="373075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9070848" y="38221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输入尺寸</a:t>
            </a:r>
            <a:endParaRPr lang="en-US" sz="1080" dirty="0"/>
          </a:p>
        </p:txBody>
      </p:sp>
      <p:sp>
        <p:nvSpPr>
          <p:cNvPr id="44" name="Text 39"/>
          <p:cNvSpPr/>
          <p:nvPr/>
        </p:nvSpPr>
        <p:spPr>
          <a:xfrm>
            <a:off x="10131552" y="3813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416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9015984" y="4178808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0040112" y="417880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070848" y="42702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训练轮数</a:t>
            </a:r>
            <a:endParaRPr lang="en-US" sz="1080" dirty="0"/>
          </a:p>
        </p:txBody>
      </p:sp>
      <p:sp>
        <p:nvSpPr>
          <p:cNvPr id="48" name="Text 43"/>
          <p:cNvSpPr/>
          <p:nvPr/>
        </p:nvSpPr>
        <p:spPr>
          <a:xfrm>
            <a:off x="10131552" y="4261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 轮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9015984" y="4626864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0040112" y="462686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070848" y="4718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输出内容</a:t>
            </a:r>
            <a:endParaRPr lang="en-US" sz="1080" dirty="0"/>
          </a:p>
        </p:txBody>
      </p:sp>
      <p:sp>
        <p:nvSpPr>
          <p:cNvPr id="52" name="Text 47"/>
          <p:cNvSpPr/>
          <p:nvPr/>
        </p:nvSpPr>
        <p:spPr>
          <a:xfrm>
            <a:off x="10131552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mask / bbox / score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9015984" y="5074920"/>
            <a:ext cx="1024128" cy="384048"/>
          </a:xfrm>
          <a:prstGeom prst="rect">
            <a:avLst/>
          </a:prstGeom>
          <a:solidFill>
            <a:srgbClr val="EEF5F7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0040112" y="507492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9070848" y="5166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应用方式</a:t>
            </a:r>
            <a:endParaRPr lang="en-US" sz="1080" dirty="0"/>
          </a:p>
        </p:txBody>
      </p:sp>
      <p:sp>
        <p:nvSpPr>
          <p:cNvPr id="56" name="Text 51"/>
          <p:cNvSpPr/>
          <p:nvPr/>
        </p:nvSpPr>
        <p:spPr>
          <a:xfrm>
            <a:off x="10131552" y="5157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输出结果供人工复核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0" y="603504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2743200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3511296" y="60716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输出的是“疑似位置 + 模型分数”，不是泄漏概率。</a:t>
            </a:r>
            <a:endParaRPr lang="en-US" sz="1730" dirty="0"/>
          </a:p>
        </p:txBody>
      </p:sp>
      <p:sp>
        <p:nvSpPr>
          <p:cNvPr id="60" name="Shape 55"/>
          <p:cNvSpPr/>
          <p:nvPr/>
        </p:nvSpPr>
        <p:spPr>
          <a:xfrm>
            <a:off x="8796528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评测设计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分割质量、图像级命中与误报必须分开评价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不同指标回答不同问题，不能用单一 mAP 替代目标场景风险评估。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38912" y="2240280"/>
            <a:ext cx="3840480" cy="3611880"/>
          </a:xfrm>
          <a:prstGeom prst="roundRect">
            <a:avLst>
              <a:gd name="adj" fmla="val 1519"/>
            </a:avLst>
          </a:prstGeom>
          <a:solidFill>
            <a:srgbClr val="FAFCFD"/>
          </a:solidFill>
          <a:ln w="8890">
            <a:solidFill>
              <a:srgbClr val="E1E9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423160"/>
            <a:ext cx="411480" cy="36576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60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测试集组成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97864" y="29626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1965960" y="3099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张隔离测试图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40864" y="3621024"/>
            <a:ext cx="0" cy="384048"/>
          </a:xfrm>
          <a:prstGeom prst="line">
            <a:avLst/>
          </a:prstGeom>
          <a:noFill/>
          <a:ln w="12700">
            <a:solidFill>
              <a:srgbClr val="B8CD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17320" y="4005072"/>
            <a:ext cx="1883664" cy="0"/>
          </a:xfrm>
          <a:prstGeom prst="line">
            <a:avLst/>
          </a:prstGeom>
          <a:noFill/>
          <a:ln w="12700">
            <a:solidFill>
              <a:srgbClr val="B8CD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17320" y="4005072"/>
            <a:ext cx="0" cy="228600"/>
          </a:xfrm>
          <a:prstGeom prst="line">
            <a:avLst/>
          </a:prstGeom>
          <a:noFill/>
          <a:ln w="12700">
            <a:solidFill>
              <a:srgbClr val="B8CD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00984" y="4005072"/>
            <a:ext cx="0" cy="228600"/>
          </a:xfrm>
          <a:prstGeom prst="line">
            <a:avLst/>
          </a:prstGeom>
          <a:noFill/>
          <a:ln w="12700">
            <a:solidFill>
              <a:srgbClr val="B8CD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" y="4242816"/>
            <a:ext cx="1481328" cy="1188720"/>
          </a:xfrm>
          <a:prstGeom prst="roundRect">
            <a:avLst>
              <a:gd name="adj" fmla="val 4615"/>
            </a:avLst>
          </a:prstGeom>
          <a:solidFill>
            <a:srgbClr val="FFF9F9"/>
          </a:solidFill>
          <a:ln w="8890">
            <a:solidFill>
              <a:srgbClr val="F1DE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23744" y="4242816"/>
            <a:ext cx="1481328" cy="1188720"/>
          </a:xfrm>
          <a:prstGeom prst="roundRect">
            <a:avLst>
              <a:gd name="adj" fmla="val 4615"/>
            </a:avLst>
          </a:prstGeom>
          <a:solidFill>
            <a:srgbClr val="F8FCFA"/>
          </a:solidFill>
          <a:ln w="8890">
            <a:solidFill>
              <a:srgbClr val="DCE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3799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13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156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042416" y="481888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8B33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张含泄漏</a:t>
            </a:r>
            <a:endParaRPr lang="en-US" sz="1320" dirty="0"/>
          </a:p>
        </p:txBody>
      </p:sp>
      <p:pic>
        <p:nvPicPr>
          <p:cNvPr id="22" name="Image 1" descr="/mnt/data/巡检者_ppt_assets/image6.jpg"/>
          <p:cNvPicPr>
            <a:picLocks noChangeAspect="1"/>
          </p:cNvPicPr>
          <p:nvPr/>
        </p:nvPicPr>
        <p:blipFill>
          <a:blip r:embed="rId4"/>
          <a:srcRect t="31451" b="31450"/>
          <a:stretch/>
        </p:blipFill>
        <p:spPr>
          <a:xfrm>
            <a:off x="987552" y="5074920"/>
            <a:ext cx="1078992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798064" y="43799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56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2761488" y="481888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E6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张负样本</a:t>
            </a:r>
            <a:endParaRPr lang="en-US" sz="1320" dirty="0"/>
          </a:p>
        </p:txBody>
      </p:sp>
      <p:pic>
        <p:nvPicPr>
          <p:cNvPr id="25" name="Image 2" descr="/mnt/data/巡检者_ppt_assets/image1.jpg"/>
          <p:cNvPicPr>
            <a:picLocks noChangeAspect="1"/>
          </p:cNvPicPr>
          <p:nvPr/>
        </p:nvPicPr>
        <p:blipFill>
          <a:blip r:embed="rId5"/>
          <a:srcRect t="28390" b="28390"/>
          <a:stretch/>
        </p:blipFill>
        <p:spPr>
          <a:xfrm>
            <a:off x="2724912" y="5074920"/>
            <a:ext cx="1078992" cy="31089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535424" y="2240280"/>
            <a:ext cx="7223760" cy="438912"/>
          </a:xfrm>
          <a:prstGeom prst="rect">
            <a:avLst/>
          </a:prstGeom>
          <a:solidFill>
            <a:srgbClr val="E9F3F6"/>
          </a:solidFill>
          <a:ln w="7620">
            <a:solidFill>
              <a:srgbClr val="D4E3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18304" y="23500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7827264" y="23500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回答的问题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4535424" y="2679192"/>
            <a:ext cx="72237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00016" y="282549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mask mAP50：区域定位质量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808976" y="27980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在正确检测到泄漏的前提下，分割区域与真实泄漏区域的重合程度如何？</a:t>
            </a:r>
            <a:endParaRPr lang="en-US" sz="1160" dirty="0"/>
          </a:p>
        </p:txBody>
      </p:sp>
      <p:sp>
        <p:nvSpPr>
          <p:cNvPr id="32" name="Shape 27"/>
          <p:cNvSpPr/>
          <p:nvPr/>
        </p:nvSpPr>
        <p:spPr>
          <a:xfrm>
            <a:off x="4535424" y="3374136"/>
            <a:ext cx="7223760" cy="694944"/>
          </a:xfrm>
          <a:prstGeom prst="rect">
            <a:avLst/>
          </a:prstGeom>
          <a:solidFill>
            <a:srgbClr val="FBFDFE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00016" y="3520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mask mAP50-95：更严格的区域质量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7808976" y="3493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在多个 IoU 阈值下的平均分割精度，对边界质量要求更高。</a:t>
            </a:r>
            <a:endParaRPr lang="en-US" sz="1160" dirty="0"/>
          </a:p>
        </p:txBody>
      </p:sp>
      <p:sp>
        <p:nvSpPr>
          <p:cNvPr id="35" name="Shape 30"/>
          <p:cNvSpPr/>
          <p:nvPr/>
        </p:nvSpPr>
        <p:spPr>
          <a:xfrm>
            <a:off x="4535424" y="4069080"/>
            <a:ext cx="72237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00016" y="42153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图像级命中 @0.25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808976" y="41879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对含泄漏图片，是否至少有一个达到阈值的输出？</a:t>
            </a:r>
            <a:endParaRPr lang="en-US" sz="1160" dirty="0"/>
          </a:p>
        </p:txBody>
      </p:sp>
      <p:sp>
        <p:nvSpPr>
          <p:cNvPr id="38" name="Shape 33"/>
          <p:cNvSpPr/>
          <p:nvPr/>
        </p:nvSpPr>
        <p:spPr>
          <a:xfrm>
            <a:off x="4535424" y="4764024"/>
            <a:ext cx="7223760" cy="694944"/>
          </a:xfrm>
          <a:prstGeom prst="rect">
            <a:avLst/>
          </a:prstGeom>
          <a:solidFill>
            <a:srgbClr val="FBFDFE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700016" y="49103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负样本误报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7808976" y="48828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对无泄漏图片，是否产生任何检测输出？用于评估误报风险。</a:t>
            </a:r>
            <a:endParaRPr lang="en-US" sz="1160" dirty="0"/>
          </a:p>
        </p:txBody>
      </p:sp>
      <p:sp>
        <p:nvSpPr>
          <p:cNvPr id="41" name="Shape 36"/>
          <p:cNvSpPr/>
          <p:nvPr/>
        </p:nvSpPr>
        <p:spPr>
          <a:xfrm>
            <a:off x="4535424" y="5458968"/>
            <a:ext cx="72237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9E5E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700016" y="560527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正常机舱误报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7808976" y="5577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在目标场景域外的正常机舱中，是否产生错误输出？</a:t>
            </a:r>
            <a:endParaRPr lang="en-US" sz="1160" dirty="0"/>
          </a:p>
        </p:txBody>
      </p:sp>
      <p:sp>
        <p:nvSpPr>
          <p:cNvPr id="44" name="Shape 39"/>
          <p:cNvSpPr/>
          <p:nvPr/>
        </p:nvSpPr>
        <p:spPr>
          <a:xfrm>
            <a:off x="0" y="603504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743200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511296" y="60716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mAP 与“图片有没有命中”不是同一个指标。</a:t>
            </a:r>
            <a:endParaRPr lang="en-US" sz="1730" dirty="0"/>
          </a:p>
        </p:txBody>
      </p:sp>
      <p:sp>
        <p:nvSpPr>
          <p:cNvPr id="47" name="Shape 42"/>
          <p:cNvSpPr/>
          <p:nvPr/>
        </p:nvSpPr>
        <p:spPr>
          <a:xfrm>
            <a:off x="8796528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实验结果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同分母对照评测：为何选择 v8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部署版本的选择依据是目标场景下的误报风险，而不是单一 mAP 排名。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75488" y="2212848"/>
            <a:ext cx="3310128" cy="420624"/>
          </a:xfrm>
          <a:prstGeom prst="rect">
            <a:avLst/>
          </a:prstGeom>
          <a:solidFill>
            <a:srgbClr val="EDF3F6"/>
          </a:solidFill>
          <a:ln w="7620">
            <a:solidFill>
              <a:srgbClr val="D5E2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22576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3785616" y="2212848"/>
            <a:ext cx="1965960" cy="420624"/>
          </a:xfrm>
          <a:prstGeom prst="rect">
            <a:avLst/>
          </a:prstGeom>
          <a:solidFill>
            <a:srgbClr val="EDF3F6"/>
          </a:solidFill>
          <a:ln w="7620">
            <a:solidFill>
              <a:srgbClr val="D5E2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58768" y="2322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v7</a:t>
            </a:r>
            <a:endParaRPr lang="en-US" sz="1520" dirty="0"/>
          </a:p>
        </p:txBody>
      </p:sp>
      <p:sp>
        <p:nvSpPr>
          <p:cNvPr id="13" name="Shape 10"/>
          <p:cNvSpPr/>
          <p:nvPr/>
        </p:nvSpPr>
        <p:spPr>
          <a:xfrm>
            <a:off x="5751576" y="2212848"/>
            <a:ext cx="2286000" cy="420624"/>
          </a:xfrm>
          <a:prstGeom prst="rect">
            <a:avLst/>
          </a:prstGeom>
          <a:solidFill>
            <a:srgbClr val="DDF4F2"/>
          </a:solidFill>
          <a:ln w="7620">
            <a:solidFill>
              <a:srgbClr val="D5E2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4728" y="232257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v8（现部署）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8037576" y="2212848"/>
            <a:ext cx="2240280" cy="420624"/>
          </a:xfrm>
          <a:prstGeom prst="rect">
            <a:avLst/>
          </a:prstGeom>
          <a:solidFill>
            <a:srgbClr val="EDF3F6"/>
          </a:solidFill>
          <a:ln w="7620">
            <a:solidFill>
              <a:srgbClr val="D5E2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0728" y="2322576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v9（未部署）</a:t>
            </a:r>
            <a:endParaRPr lang="en-US" sz="1520" dirty="0"/>
          </a:p>
        </p:txBody>
      </p:sp>
      <p:sp>
        <p:nvSpPr>
          <p:cNvPr id="17" name="Shape 14"/>
          <p:cNvSpPr/>
          <p:nvPr/>
        </p:nvSpPr>
        <p:spPr>
          <a:xfrm>
            <a:off x="475488" y="2633472"/>
            <a:ext cx="331012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7432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mask mAP50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85616" y="2633472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58768" y="27432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0.5100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51576" y="2633472"/>
            <a:ext cx="2286000" cy="457200"/>
          </a:xfrm>
          <a:prstGeom prst="rect">
            <a:avLst/>
          </a:prstGeom>
          <a:solidFill>
            <a:srgbClr val="EFFAF9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4728" y="27432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0.4342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37576" y="263347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10728" y="27432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0.3419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75488" y="3090672"/>
            <a:ext cx="331012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2004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mask mAP50-95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785616" y="3090672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58768" y="32004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0.1931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751576" y="3090672"/>
            <a:ext cx="2286000" cy="457200"/>
          </a:xfrm>
          <a:prstGeom prst="rect">
            <a:avLst/>
          </a:prstGeom>
          <a:solidFill>
            <a:srgbClr val="EFFAF9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24728" y="32004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0.1640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37576" y="309067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10728" y="32004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0.1167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75488" y="3547872"/>
            <a:ext cx="331012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36576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含泄漏图命中 @0.25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785616" y="3547872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58768" y="36576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117/156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751576" y="3547872"/>
            <a:ext cx="2286000" cy="457200"/>
          </a:xfrm>
          <a:prstGeom prst="rect">
            <a:avLst/>
          </a:prstGeom>
          <a:solidFill>
            <a:srgbClr val="EFFAF9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24728" y="36576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120/156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037576" y="354787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10728" y="36576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110/156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75488" y="4005072"/>
            <a:ext cx="331012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1148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56 张负样本误报 @0.25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785616" y="4005072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58768" y="41148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751576" y="4005072"/>
            <a:ext cx="2286000" cy="457200"/>
          </a:xfrm>
          <a:prstGeom prst="rect">
            <a:avLst/>
          </a:prstGeom>
          <a:solidFill>
            <a:srgbClr val="EFFAF9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24728" y="41148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037576" y="400507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10728" y="41148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475488" y="4462272"/>
            <a:ext cx="331012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" y="457200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113 张正常机舱误报 @0.25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3785616" y="4462272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45720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22/113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751576" y="4462272"/>
            <a:ext cx="2286000" cy="457200"/>
          </a:xfrm>
          <a:prstGeom prst="rect">
            <a:avLst/>
          </a:prstGeom>
          <a:solidFill>
            <a:srgbClr val="EFFAF9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824728" y="45720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2/113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8037576" y="446227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10728" y="457200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2/113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475488" y="5102352"/>
            <a:ext cx="5376672" cy="749808"/>
          </a:xfrm>
          <a:prstGeom prst="roundRect">
            <a:avLst>
              <a:gd name="adj" fmla="val 7317"/>
            </a:avLst>
          </a:prstGeom>
          <a:solidFill>
            <a:srgbClr val="F7FBFC"/>
          </a:solidFill>
          <a:ln w="8890">
            <a:solidFill>
              <a:srgbClr val="E0EA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989320" y="5102352"/>
            <a:ext cx="5660136" cy="749808"/>
          </a:xfrm>
          <a:prstGeom prst="roundRect">
            <a:avLst>
              <a:gd name="adj" fmla="val 7317"/>
            </a:avLst>
          </a:prstGeom>
          <a:solidFill>
            <a:srgbClr val="F7FBFC"/>
          </a:solidFill>
          <a:ln w="8890">
            <a:solidFill>
              <a:srgbClr val="E0EAE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2960" y="5285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v8 比 v7 多命中</a:t>
            </a:r>
            <a:endParaRPr lang="en-US" sz="1450" dirty="0"/>
          </a:p>
        </p:txBody>
      </p:sp>
      <p:sp>
        <p:nvSpPr>
          <p:cNvPr id="60" name="Text 57"/>
          <p:cNvSpPr/>
          <p:nvPr/>
        </p:nvSpPr>
        <p:spPr>
          <a:xfrm>
            <a:off x="2514600" y="52120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张</a:t>
            </a:r>
            <a:endParaRPr lang="en-US" sz="2500" dirty="0"/>
          </a:p>
        </p:txBody>
      </p:sp>
      <p:sp>
        <p:nvSpPr>
          <p:cNvPr id="61" name="Text 58"/>
          <p:cNvSpPr/>
          <p:nvPr/>
        </p:nvSpPr>
        <p:spPr>
          <a:xfrm>
            <a:off x="6400800" y="5285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正常机舱误报由</a:t>
            </a:r>
            <a:endParaRPr lang="en-US" sz="1450" dirty="0"/>
          </a:p>
        </p:txBody>
      </p:sp>
      <p:sp>
        <p:nvSpPr>
          <p:cNvPr id="62" name="Text 59"/>
          <p:cNvSpPr/>
          <p:nvPr/>
        </p:nvSpPr>
        <p:spPr>
          <a:xfrm>
            <a:off x="7936992" y="52212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22/113  降至  2/113</a:t>
            </a:r>
            <a:endParaRPr lang="en-US" sz="2100" dirty="0"/>
          </a:p>
        </p:txBody>
      </p:sp>
      <p:sp>
        <p:nvSpPr>
          <p:cNvPr id="63" name="Shape 60"/>
          <p:cNvSpPr/>
          <p:nvPr/>
        </p:nvSpPr>
        <p:spPr>
          <a:xfrm>
            <a:off x="0" y="603504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24790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511295" y="6071616"/>
            <a:ext cx="56779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v8 </a:t>
            </a:r>
            <a:r>
              <a:rPr lang="en-US" sz="1600" b="1" dirty="0" err="1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不是</a:t>
            </a:r>
            <a:r>
              <a:rPr lang="en-US" sz="16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</a:t>
            </a:r>
            <a:r>
              <a:rPr lang="en-US" sz="1600" b="1" dirty="0" err="1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mAP</a:t>
            </a:r>
            <a:r>
              <a:rPr lang="en-US" sz="16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</a:t>
            </a:r>
            <a:r>
              <a:rPr lang="en-US" sz="1600" b="1" dirty="0" err="1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最高版本，但更符合当前目标场景的误报控制需求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9262937" y="620877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实验结果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84832" y="402336"/>
            <a:ext cx="7818120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0762"/>
            <a:ext cx="1554480" cy="55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正常机舱误报从 19.5% 降至 1.8%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在同一批 113 张正常机舱留出图上，v8 的无效提醒明显减少。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438912" y="251460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AFCFD"/>
          </a:solidFill>
          <a:ln w="8890">
            <a:solidFill>
              <a:srgbClr val="E1E9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251460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7FCFB"/>
          </a:solidFill>
          <a:ln w="8890">
            <a:solidFill>
              <a:srgbClr val="D7EB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2596896"/>
            <a:ext cx="2148840" cy="493776"/>
          </a:xfrm>
          <a:prstGeom prst="rect">
            <a:avLst/>
          </a:prstGeom>
          <a:solidFill>
            <a:srgbClr val="A7B6C7"/>
          </a:solidFill>
          <a:ln w="12700">
            <a:solidFill>
              <a:srgbClr val="A7B6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596896"/>
            <a:ext cx="2148840" cy="493776"/>
          </a:xfrm>
          <a:prstGeom prst="rect">
            <a:avLst/>
          </a:prstGeom>
          <a:solidFill>
            <a:srgbClr val="21B2AE"/>
          </a:solidFill>
          <a:ln w="12700">
            <a:solidFill>
              <a:srgbClr val="21B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7249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95928" y="27249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96112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113 =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38221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19.5%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3685032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F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113 =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47872" y="382219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1.8%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2798064" y="35661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9BFC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1307592" y="49194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约下降 11 倍</a:t>
            </a:r>
            <a:endParaRPr lang="en-US" sz="2200" dirty="0"/>
          </a:p>
        </p:txBody>
      </p:sp>
      <p:pic>
        <p:nvPicPr>
          <p:cNvPr id="22" name="Image 1" descr="/mnt/data/巡检者_ppt_assets/image5.jpg"/>
          <p:cNvPicPr>
            <a:picLocks noChangeAspect="1"/>
          </p:cNvPicPr>
          <p:nvPr/>
        </p:nvPicPr>
        <p:blipFill>
          <a:blip r:embed="rId4"/>
          <a:srcRect t="8950" b="8950"/>
          <a:stretch/>
        </p:blipFill>
        <p:spPr>
          <a:xfrm>
            <a:off x="5998464" y="2176272"/>
            <a:ext cx="5687568" cy="350215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57200" y="6016752"/>
            <a:ext cx="594360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52144" y="58704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4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少一次误报，就少一次无效复核。</a:t>
            </a:r>
            <a:endParaRPr lang="en-US" sz="1840" dirty="0"/>
          </a:p>
        </p:txBody>
      </p:sp>
      <p:sp>
        <p:nvSpPr>
          <p:cNvPr id="25" name="Shape 21"/>
          <p:cNvSpPr/>
          <p:nvPr/>
        </p:nvSpPr>
        <p:spPr>
          <a:xfrm>
            <a:off x="5861304" y="5715000"/>
            <a:ext cx="0" cy="548640"/>
          </a:xfrm>
          <a:prstGeom prst="line">
            <a:avLst/>
          </a:prstGeom>
          <a:noFill/>
          <a:ln w="10160">
            <a:solidFill>
              <a:srgbClr val="D6E4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47104" y="5788152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这个结果证明误报控制的进步；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真实机舱泄漏能否检出，仍需正样本验证。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2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实验结果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不只提示异常，还标出疑似位置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 v8 能对公开管道喷射、流淌样本给出可视化分割区域。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438912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1" name="Image 1" descr="/mnt/data/巡检者_ppt_assets/image6.jpg"/>
          <p:cNvPicPr>
            <a:picLocks noChangeAspect="1"/>
          </p:cNvPicPr>
          <p:nvPr/>
        </p:nvPicPr>
        <p:blipFill>
          <a:blip r:embed="rId4"/>
          <a:srcRect t="23891" b="23891"/>
          <a:stretch/>
        </p:blipFill>
        <p:spPr>
          <a:xfrm>
            <a:off x="493776" y="2157984"/>
            <a:ext cx="3291840" cy="1335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喷射样本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4114800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4" name="Image 2" descr="/mnt/data/巡检者_ppt_assets/image8.png"/>
          <p:cNvPicPr>
            <a:picLocks noChangeAspect="1"/>
          </p:cNvPicPr>
          <p:nvPr/>
        </p:nvPicPr>
        <p:blipFill>
          <a:blip r:embed="rId5"/>
          <a:srcRect t="29813" b="29813"/>
          <a:stretch/>
        </p:blipFill>
        <p:spPr>
          <a:xfrm>
            <a:off x="4169664" y="2157984"/>
            <a:ext cx="3291840" cy="1335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87952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管道流淌</a:t>
            </a:r>
            <a:endParaRPr lang="en-US" sz="1130" dirty="0"/>
          </a:p>
        </p:txBody>
      </p:sp>
      <p:sp>
        <p:nvSpPr>
          <p:cNvPr id="16" name="Shape 11"/>
          <p:cNvSpPr/>
          <p:nvPr/>
        </p:nvSpPr>
        <p:spPr>
          <a:xfrm>
            <a:off x="7790688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7" name="Image 3" descr="/mnt/data/巡检者_ppt_assets/image9.png"/>
          <p:cNvPicPr>
            <a:picLocks noChangeAspect="1"/>
          </p:cNvPicPr>
          <p:nvPr/>
        </p:nvPicPr>
        <p:blipFill>
          <a:blip r:embed="rId6"/>
          <a:srcRect t="29993" b="29993"/>
          <a:stretch/>
        </p:blipFill>
        <p:spPr>
          <a:xfrm>
            <a:off x="7845552" y="2157984"/>
            <a:ext cx="3291840" cy="1335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0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接头流淌</a:t>
            </a:r>
            <a:endParaRPr lang="en-US" sz="1130" dirty="0"/>
          </a:p>
        </p:txBody>
      </p:sp>
      <p:sp>
        <p:nvSpPr>
          <p:cNvPr id="19" name="Shape 13"/>
          <p:cNvSpPr/>
          <p:nvPr/>
        </p:nvSpPr>
        <p:spPr>
          <a:xfrm>
            <a:off x="438912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0" name="Image 4" descr="/mnt/data/巡检者_ppt_assets/image10.png"/>
          <p:cNvPicPr>
            <a:picLocks noChangeAspect="1"/>
          </p:cNvPicPr>
          <p:nvPr/>
        </p:nvPicPr>
        <p:blipFill>
          <a:blip r:embed="rId7"/>
          <a:srcRect t="29768" b="29768"/>
          <a:stretch/>
        </p:blipFill>
        <p:spPr>
          <a:xfrm>
            <a:off x="493776" y="4096512"/>
            <a:ext cx="3291840" cy="13350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壁面附近流淌</a:t>
            </a:r>
            <a:endParaRPr lang="en-US" sz="1130" dirty="0"/>
          </a:p>
        </p:txBody>
      </p:sp>
      <p:sp>
        <p:nvSpPr>
          <p:cNvPr id="22" name="Shape 15"/>
          <p:cNvSpPr/>
          <p:nvPr/>
        </p:nvSpPr>
        <p:spPr>
          <a:xfrm>
            <a:off x="4114800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3" name="Image 5" descr="/mnt/data/巡检者_ppt_assets/image11.png"/>
          <p:cNvPicPr>
            <a:picLocks noChangeAspect="1"/>
          </p:cNvPicPr>
          <p:nvPr/>
        </p:nvPicPr>
        <p:blipFill>
          <a:blip r:embed="rId8"/>
          <a:srcRect t="29586" b="29586"/>
          <a:stretch/>
        </p:blipFill>
        <p:spPr>
          <a:xfrm>
            <a:off x="4169664" y="4096512"/>
            <a:ext cx="3291840" cy="13350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87952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地面附近流淌</a:t>
            </a:r>
            <a:endParaRPr lang="en-US" sz="1130" dirty="0"/>
          </a:p>
        </p:txBody>
      </p:sp>
      <p:sp>
        <p:nvSpPr>
          <p:cNvPr id="25" name="Shape 17"/>
          <p:cNvSpPr/>
          <p:nvPr/>
        </p:nvSpPr>
        <p:spPr>
          <a:xfrm>
            <a:off x="7790688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6" name="Image 6" descr="/mnt/data/巡检者_ppt_assets/image12.png"/>
          <p:cNvPicPr>
            <a:picLocks noChangeAspect="1"/>
          </p:cNvPicPr>
          <p:nvPr/>
        </p:nvPicPr>
        <p:blipFill>
          <a:blip r:embed="rId9"/>
          <a:srcRect t="29812" b="29812"/>
          <a:stretch/>
        </p:blipFill>
        <p:spPr>
          <a:xfrm>
            <a:off x="7845552" y="4096512"/>
            <a:ext cx="3291840" cy="13350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863840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接头/管件区域</a:t>
            </a:r>
            <a:endParaRPr lang="en-US" sz="1130" dirty="0"/>
          </a:p>
        </p:txBody>
      </p:sp>
      <p:sp>
        <p:nvSpPr>
          <p:cNvPr id="28" name="Shape 19"/>
          <p:cNvSpPr/>
          <p:nvPr/>
        </p:nvSpPr>
        <p:spPr>
          <a:xfrm>
            <a:off x="8961120" y="1819656"/>
            <a:ext cx="164592" cy="164592"/>
          </a:xfrm>
          <a:prstGeom prst="rect">
            <a:avLst/>
          </a:prstGeom>
          <a:solidFill>
            <a:srgbClr val="436EF5">
              <a:alpha val="75000"/>
            </a:srgbClr>
          </a:solidFill>
          <a:ln w="12700">
            <a:solidFill>
              <a:srgbClr val="436EF5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9189720" y="1783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06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蓝色为模型分割叠加区域</a:t>
            </a:r>
            <a:endParaRPr lang="en-US" sz="1130" dirty="0"/>
          </a:p>
        </p:txBody>
      </p:sp>
      <p:sp>
        <p:nvSpPr>
          <p:cNvPr id="30" name="Text 21"/>
          <p:cNvSpPr/>
          <p:nvPr/>
        </p:nvSpPr>
        <p:spPr>
          <a:xfrm>
            <a:off x="475488" y="5833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公开管道样本 · 非真实机舱泄漏验证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从“发现线索”进一步到“指向位置”。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能力边界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低误报，不等于真实机舱泄漏已经可靠检出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当前最重要的未完成项，是获得足够真实机舱泄漏正样本并建立独立召回评测。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438912" y="2103120"/>
            <a:ext cx="5358384" cy="3611880"/>
          </a:xfrm>
          <a:prstGeom prst="roundRect">
            <a:avLst>
              <a:gd name="adj" fmla="val 1266"/>
            </a:avLst>
          </a:prstGeom>
          <a:solidFill>
            <a:srgbClr val="F7FBFA"/>
          </a:solidFill>
          <a:ln w="8890">
            <a:solidFill>
              <a:srgbClr val="D9E9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4768" y="2103120"/>
            <a:ext cx="5605272" cy="3611880"/>
          </a:xfrm>
          <a:prstGeom prst="roundRect">
            <a:avLst>
              <a:gd name="adj" fmla="val 1266"/>
            </a:avLst>
          </a:prstGeom>
          <a:solidFill>
            <a:srgbClr val="FBF9F7"/>
          </a:solidFill>
          <a:ln w="8890">
            <a:solidFill>
              <a:srgbClr val="E7DE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31720"/>
            <a:ext cx="438912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5237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已经验证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345936" y="2331720"/>
            <a:ext cx="438912" cy="41148"/>
          </a:xfrm>
          <a:prstGeom prst="rect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25237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尚未验证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13232" y="3108960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145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" y="307238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正常机舱低误报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1097280" y="340156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113 张留出图中误报 2 张（2/113）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713232" y="3950208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9867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" y="391363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公开管道可视化定位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1097280" y="424281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能够输出 mask / bbox / score 供人工复核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713232" y="4791456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8280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" y="47548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评测链可复现</a:t>
            </a:r>
            <a:endParaRPr lang="en-US" sz="1520" dirty="0"/>
          </a:p>
        </p:txBody>
      </p:sp>
      <p:sp>
        <p:nvSpPr>
          <p:cNvPr id="27" name="Text 24"/>
          <p:cNvSpPr/>
          <p:nvPr/>
        </p:nvSpPr>
        <p:spPr>
          <a:xfrm>
            <a:off x="1097280" y="508406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按场景隔离，避免近重复图造成测试虚高</a:t>
            </a:r>
            <a:endParaRPr lang="en-US" sz="1160" dirty="0"/>
          </a:p>
        </p:txBody>
      </p:sp>
      <p:sp>
        <p:nvSpPr>
          <p:cNvPr id="28" name="Shape 25"/>
          <p:cNvSpPr/>
          <p:nvPr/>
        </p:nvSpPr>
        <p:spPr>
          <a:xfrm>
            <a:off x="6428232" y="3108960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145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12280" y="307238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真实机舱泄漏召回率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6812280" y="340156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训练与独立测试缺少足够真实机舱泄漏正例</a:t>
            </a:r>
            <a:endParaRPr lang="en-US" sz="1160" dirty="0"/>
          </a:p>
        </p:txBody>
      </p:sp>
      <p:sp>
        <p:nvSpPr>
          <p:cNvPr id="32" name="Shape 29"/>
          <p:cNvSpPr/>
          <p:nvPr/>
        </p:nvSpPr>
        <p:spPr>
          <a:xfrm>
            <a:off x="6428232" y="3950208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39867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12280" y="391363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细滴、积水、深色油污</a:t>
            </a:r>
            <a:endParaRPr lang="en-US" sz="1520" dirty="0"/>
          </a:p>
        </p:txBody>
      </p:sp>
      <p:sp>
        <p:nvSpPr>
          <p:cNvPr id="35" name="Text 32"/>
          <p:cNvSpPr/>
          <p:nvPr/>
        </p:nvSpPr>
        <p:spPr>
          <a:xfrm>
            <a:off x="6812280" y="42428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不同形态与工况的覆盖仍不足</a:t>
            </a:r>
            <a:endParaRPr lang="en-US" sz="1160" dirty="0"/>
          </a:p>
        </p:txBody>
      </p:sp>
      <p:sp>
        <p:nvSpPr>
          <p:cNvPr id="36" name="Shape 33"/>
          <p:cNvSpPr/>
          <p:nvPr/>
        </p:nvSpPr>
        <p:spPr>
          <a:xfrm>
            <a:off x="6428232" y="4791456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48280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12280" y="47548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跨船型、光照与视频连续性</a:t>
            </a:r>
            <a:endParaRPr lang="en-US" sz="1520" dirty="0"/>
          </a:p>
        </p:txBody>
      </p:sp>
      <p:sp>
        <p:nvSpPr>
          <p:cNvPr id="39" name="Text 36"/>
          <p:cNvSpPr/>
          <p:nvPr/>
        </p:nvSpPr>
        <p:spPr>
          <a:xfrm>
            <a:off x="6812280" y="508406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尚未形成系统性独立验证</a:t>
            </a:r>
            <a:endParaRPr lang="en-US" sz="1160" dirty="0"/>
          </a:p>
        </p:txBody>
      </p:sp>
      <p:sp>
        <p:nvSpPr>
          <p:cNvPr id="40" name="Shape 37"/>
          <p:cNvSpPr/>
          <p:nvPr/>
        </p:nvSpPr>
        <p:spPr>
          <a:xfrm>
            <a:off x="6382512" y="5468112"/>
            <a:ext cx="5010912" cy="182880"/>
          </a:xfrm>
          <a:prstGeom prst="roundRect">
            <a:avLst>
              <a:gd name="adj" fmla="val 15000"/>
            </a:avLst>
          </a:prstGeom>
          <a:solidFill>
            <a:srgbClr val="FFF3EA"/>
          </a:solidFill>
          <a:ln w="12700">
            <a:solidFill>
              <a:srgbClr val="F2D7C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01384" y="532180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9A55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已检查的一张真实舰艇管道漏水照片：v8 在 0.25 阈值下未检出。</a:t>
            </a:r>
            <a:endParaRPr lang="en-US" sz="1170" dirty="0"/>
          </a:p>
        </p:txBody>
      </p:sp>
      <p:sp>
        <p:nvSpPr>
          <p:cNvPr id="42" name="Shape 39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真实机舱正样本，是从原型走向现场验证的关键缺口。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系统演示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演示端把模型输出留给人工复核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单张图片流程：上传现场图 → 定位疑似液体 → 查看标注并判断。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509057" y="233172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3065" y="24231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9369" y="2752344"/>
            <a:ext cx="0" cy="566928"/>
          </a:xfrm>
          <a:prstGeom prst="line">
            <a:avLst/>
          </a:prstGeom>
          <a:noFill/>
          <a:ln w="15240">
            <a:solidFill>
              <a:srgbClr val="A9D8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94857" y="2350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上传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94857" y="2660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现场照片或已核对案例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9057" y="333756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3065" y="34290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9369" y="3758184"/>
            <a:ext cx="0" cy="566928"/>
          </a:xfrm>
          <a:prstGeom prst="line">
            <a:avLst/>
          </a:prstGeom>
          <a:noFill/>
          <a:ln w="15240">
            <a:solidFill>
              <a:srgbClr val="A9D8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4857" y="3355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定位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94857" y="36667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生成掩膜、位置框、模型分数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9057" y="434340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065" y="4434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94857" y="4361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复核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94857" y="46725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检查框的位置与现场含义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5440680"/>
            <a:ext cx="3108960" cy="621792"/>
          </a:xfrm>
          <a:prstGeom prst="roundRect">
            <a:avLst>
              <a:gd name="adj" fmla="val 7353"/>
            </a:avLst>
          </a:prstGeom>
          <a:solidFill>
            <a:srgbClr val="EEF7F9"/>
          </a:solidFill>
          <a:ln w="8890">
            <a:solidFill>
              <a:srgbClr val="D7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0225" y="55595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口径提醒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496609" y="55138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演示阈值 0.20；报告评测阈值 0.25；分数不是概率。</a:t>
            </a:r>
            <a:endParaRPr lang="en-US" sz="1080" dirty="0"/>
          </a:p>
        </p:txBody>
      </p:sp>
      <p:pic>
        <p:nvPicPr>
          <p:cNvPr id="27" name="Image 1" descr="/mnt/data/巡检者_ppt_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2057400"/>
            <a:ext cx="3182112" cy="397764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800897" y="2084832"/>
            <a:ext cx="0" cy="3803904"/>
          </a:xfrm>
          <a:prstGeom prst="line">
            <a:avLst/>
          </a:prstGeom>
          <a:noFill/>
          <a:ln w="8890">
            <a:solidFill>
              <a:srgbClr val="D6E3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系统仅供辅助筛查和教学演示，报警决策仍需传感器和人工复核。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项目贡献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把“识别效果”变成一条可复核的证据链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项目价值不在单一指标领先，而在评测可信、目标场景误报可量化、输出可人工核对。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530352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060704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可信评测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0352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场景隔离，避免近重复图造成评测虚高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530352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654 个独立场景</a:t>
            </a:r>
            <a:endParaRPr lang="en-US" sz="1720" dirty="0"/>
          </a:p>
        </p:txBody>
      </p:sp>
      <p:sp>
        <p:nvSpPr>
          <p:cNvPr id="15" name="Text 12"/>
          <p:cNvSpPr/>
          <p:nvPr/>
        </p:nvSpPr>
        <p:spPr>
          <a:xfrm>
            <a:off x="2953512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3401568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3931920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低误报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01568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正常机舱留出集量化无效提醒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401568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/ 113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5824728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6272784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803136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可视化定位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72784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 mask / bbox / score，位置可核对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6272784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分割 + 框 + 分数</a:t>
            </a:r>
            <a:endParaRPr lang="en-US" sz="1720" dirty="0"/>
          </a:p>
        </p:txBody>
      </p:sp>
      <p:sp>
        <p:nvSpPr>
          <p:cNvPr id="27" name="Text 24"/>
          <p:cNvSpPr/>
          <p:nvPr/>
        </p:nvSpPr>
        <p:spPr>
          <a:xfrm>
            <a:off x="8695944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9144000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9674352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0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明确边界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144000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不把公开管道结果等同于真实机舱能力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9144000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D97A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真实召回待验证</a:t>
            </a:r>
            <a:endParaRPr lang="en-US" sz="1720" dirty="0"/>
          </a:p>
        </p:txBody>
      </p:sp>
      <p:sp>
        <p:nvSpPr>
          <p:cNvPr id="33" name="Shape 30"/>
          <p:cNvSpPr/>
          <p:nvPr/>
        </p:nvSpPr>
        <p:spPr>
          <a:xfrm>
            <a:off x="530352" y="5330952"/>
            <a:ext cx="10936224" cy="0"/>
          </a:xfrm>
          <a:prstGeom prst="line">
            <a:avLst/>
          </a:prstGeom>
          <a:noFill/>
          <a:ln w="10160">
            <a:solidFill>
              <a:srgbClr val="D7E2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" y="5513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可复核证据链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1874520" y="550468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数据隔离  →  模型训练  →  独立评测  →  误报审计  →  可视化输出  →  人工判断</a:t>
            </a:r>
            <a:endParaRPr lang="en-US" sz="1330" dirty="0"/>
          </a:p>
        </p:txBody>
      </p:sp>
      <p:sp>
        <p:nvSpPr>
          <p:cNvPr id="36" name="Shape 33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可信，不只来自模型分数，也来自评测方式和边界说明。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结论与展望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从可运行原型，走向真实机舱验证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现阶段已经形成可复现实验链和辅助筛查原型，下一步重点是补足真实正样本与现场验证。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512064" y="2231136"/>
            <a:ext cx="438912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24323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当前已完成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30352" y="2953512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95808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4672" y="29077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可运行的 YOLO11n-seg 图片分割原型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0352" y="3392424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39699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04672" y="33467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按场景隔离的可复现实验与评测链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30352" y="3831336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83590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" y="378561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正常机舱误报量化：2 / 113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30352" y="4270248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2748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4672" y="42245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Gradio 人工复核界面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12064" y="4736592"/>
            <a:ext cx="438912" cy="41148"/>
          </a:xfrm>
          <a:prstGeom prst="rect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4937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下一步验证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530352" y="537667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采集授权真实机舱滴漏、渗漏、积水与油污图  →  逐张标注  →  在相同误报水平比较召回  →  补充跨船型、光照与视频连续性验证  →  与传感器和人工巡检协同</a:t>
            </a:r>
            <a:endParaRPr lang="en-US" sz="1220" dirty="0"/>
          </a:p>
        </p:txBody>
      </p:sp>
      <p:pic>
        <p:nvPicPr>
          <p:cNvPr id="27" name="Image 1" descr="/mnt/data/巡检者_ppt_assets/image13.jpg"/>
          <p:cNvPicPr>
            <a:picLocks noChangeAspect="1"/>
          </p:cNvPicPr>
          <p:nvPr/>
        </p:nvPicPr>
        <p:blipFill>
          <a:blip r:embed="rId4"/>
          <a:srcRect t="670" b="670"/>
          <a:stretch/>
        </p:blipFill>
        <p:spPr>
          <a:xfrm>
            <a:off x="5879592" y="2148840"/>
            <a:ext cx="5797296" cy="381304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879592" y="5138928"/>
            <a:ext cx="5797296" cy="822960"/>
          </a:xfrm>
          <a:prstGeom prst="rect">
            <a:avLst/>
          </a:prstGeom>
          <a:solidFill>
            <a:srgbClr val="102F5E">
              <a:alpha val="78000"/>
            </a:srgbClr>
          </a:solidFill>
          <a:ln w="12700">
            <a:solidFill>
              <a:srgbClr val="102F5E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90488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让机舱巡检多一双“可复核的眼睛”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948672" y="56509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8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 · 欢迎提问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870</Words>
  <Application>Microsoft Office PowerPoint</Application>
  <PresentationFormat>宽屏</PresentationFormat>
  <Paragraphs>377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Noto Serif CJK SC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AiC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巡检者</dc:title>
  <dc:subject>巡检者 - 面向轮机巡检的可复核视觉原型</dc:subject>
  <dc:creator>OpenAI</dc:creator>
  <cp:lastModifiedBy>jiale zhang</cp:lastModifiedBy>
  <cp:revision>3</cp:revision>
  <dcterms:created xsi:type="dcterms:W3CDTF">2026-09-25T08:38:52Z</dcterms:created>
  <dcterms:modified xsi:type="dcterms:W3CDTF">2026-10-19T07:44:51Z</dcterms:modified>
</cp:coreProperties>
</file>